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1097280"/>
            <a:ext cx="731520" cy="7315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1280160"/>
            <a:ext cx="2560320" cy="32004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2563EB"/>
                </a:solidFill>
                <a:latin typeface="Segoe UI"/>
              </a:defRPr>
            </a:pPr>
            <a:r>
              <a:t>ENTERPRISE AI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91640"/>
            <a:ext cx="10698480" cy="2011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200"/>
              </a:spcAft>
              <a:defRPr sz="3800" b="1">
                <a:solidFill>
                  <a:srgbClr val="0F172A"/>
                </a:solidFill>
                <a:latin typeface="Segoe UI"/>
              </a:defRPr>
            </a:pPr>
            <a:r>
              <a:t>Natural Language Incident Analytics</a:t>
            </a:r>
            <a:br/>
            <a:r>
              <a:t>&amp; Executive Reporting</a:t>
            </a:r>
          </a:p>
          <a:p>
            <a:pPr>
              <a:defRPr sz="1600">
                <a:solidFill>
                  <a:srgbClr val="64748B"/>
                </a:solidFill>
                <a:latin typeface="Segoe UI"/>
              </a:defRPr>
            </a:pPr>
            <a:r>
              <a:t>Production-Ready Conversational AI &amp; Model Context Protocol (MCP) Solution for ServiceNow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4114800"/>
            <a:ext cx="3429000" cy="15544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4114800"/>
            <a:ext cx="3429000" cy="54864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4297680"/>
            <a:ext cx="3063240" cy="12801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0F172A"/>
                </a:solidFill>
                <a:latin typeface="Segoe UI"/>
              </a:defRPr>
            </a:pPr>
            <a:r>
              <a:t>Natural Language to Query</a:t>
            </a:r>
          </a:p>
          <a:p>
            <a:pPr>
              <a:defRPr sz="1050">
                <a:solidFill>
                  <a:srgbClr val="334155"/>
                </a:solidFill>
                <a:latin typeface="Segoe UI"/>
              </a:defRPr>
            </a:pPr>
            <a:r>
              <a:t>Plain English queries automatically translated into native ServiceNow sysparm_query with zero manual coding.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79976" y="4114800"/>
            <a:ext cx="3429000" cy="15544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4379976" y="4114800"/>
            <a:ext cx="3429000" cy="54864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62856" y="4297680"/>
            <a:ext cx="3063240" cy="12801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0F172A"/>
                </a:solidFill>
                <a:latin typeface="Segoe UI"/>
              </a:defRPr>
            </a:pPr>
            <a:r>
              <a:t>Model Context Protocol</a:t>
            </a:r>
          </a:p>
          <a:p>
            <a:pPr>
              <a:defRPr sz="1050">
                <a:solidFill>
                  <a:srgbClr val="334155"/>
                </a:solidFill>
                <a:latin typeface="Segoe UI"/>
              </a:defRPr>
            </a:pPr>
            <a:r>
              <a:t>Modular JSON-RPC 2.0 tool architecture connecting Incident, Analytics, and Reporting servers.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28432" y="4114800"/>
            <a:ext cx="3429000" cy="15544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8028432" y="4114800"/>
            <a:ext cx="3429000" cy="54864"/>
          </a:xfrm>
          <a:prstGeom prst="round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11312" y="4297680"/>
            <a:ext cx="3063240" cy="12801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0F172A"/>
                </a:solidFill>
                <a:latin typeface="Segoe UI"/>
              </a:defRPr>
            </a:pPr>
            <a:r>
              <a:t>Boardroom Intelligence</a:t>
            </a:r>
          </a:p>
          <a:p>
            <a:pPr>
              <a:defRPr sz="1050">
                <a:solidFill>
                  <a:srgbClr val="334155"/>
                </a:solidFill>
                <a:latin typeface="Segoe UI"/>
              </a:defRPr>
            </a:pPr>
            <a:r>
              <a:t>Calculates live MTTR &amp; MTBF with single-click export to PDF, Word (DOCX), and Excel (XLSX).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585216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10B981"/>
                </a:solidFill>
                <a:latin typeface="Segoe UI"/>
              </a:defRPr>
            </a:pPr>
            <a:r>
              <a:t>Target Instance: dev204434.service-now.com  |  User Account: test  |  Protocol: HTTP Basic Auth (SSL Bypass)  |  Status: 200 OK Active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31520" y="6400800"/>
            <a:ext cx="10728655" cy="9144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6446520"/>
            <a:ext cx="64008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Segoe UI"/>
              </a:defRPr>
            </a:pPr>
            <a:r>
              <a:t>Natural Language Incident Analytics &amp; Reporting | Enterprise Solution Reference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0" y="6446520"/>
            <a:ext cx="3687775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900">
                <a:solidFill>
                  <a:srgbClr val="64748B"/>
                </a:solidFill>
                <a:latin typeface="Segoe UI"/>
              </a:defRPr>
            </a:pPr>
            <a:r>
              <a:t>Slide 1 of 12 | Confidential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10B981"/>
                </a:solidFill>
                <a:latin typeface="Segoe UI"/>
              </a:defRPr>
            </a:pPr>
            <a:r>
              <a:t>BUSINESS CASE &amp; STRATEGIC VALUE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21792"/>
            <a:ext cx="1069848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Segoe UI"/>
              </a:defRPr>
            </a:pPr>
            <a:r>
              <a:t>Overcoming Enterprise Incident Reporting Friction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4300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>
                <a:solidFill>
                  <a:srgbClr val="64748B"/>
                </a:solidFill>
                <a:latin typeface="Segoe UI"/>
              </a:defRPr>
            </a:pPr>
            <a:r>
              <a:t>Replacing slow ad-hoc reporting with instant natural language conversational intelligence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508760"/>
            <a:ext cx="10728655" cy="13716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737360"/>
            <a:ext cx="5248656" cy="44805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31520" y="1737360"/>
            <a:ext cx="5248656" cy="54864"/>
          </a:xfrm>
          <a:prstGeom prst="round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1965960"/>
            <a:ext cx="4700016" cy="4023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400"/>
              </a:spcAft>
              <a:defRPr sz="1300" b="1">
                <a:solidFill>
                  <a:srgbClr val="EF4444"/>
                </a:solidFill>
                <a:latin typeface="Segoe UI"/>
              </a:defRPr>
            </a:pPr>
            <a:r>
              <a:t>TRADITIONAL OPERATIONAL CHALLENGES</a:t>
            </a:r>
          </a:p>
          <a:p>
            <a:pPr>
              <a:spcAft>
                <a:spcPts val="1000"/>
              </a:spcAft>
              <a:defRPr sz="1050">
                <a:solidFill>
                  <a:srgbClr val="334155"/>
                </a:solidFill>
                <a:latin typeface="Segoe UI"/>
              </a:defRPr>
            </a:pPr>
            <a:r>
              <a:t>[!]  Reporting Bottleneck &amp; Delays: Non-technical stakeholders wait 24-48 hours for IT analysts to build custom ServiceNow reports and dashboards.</a:t>
            </a:r>
          </a:p>
          <a:p>
            <a:pPr>
              <a:spcAft>
                <a:spcPts val="1000"/>
              </a:spcAft>
              <a:defRPr sz="1050">
                <a:solidFill>
                  <a:srgbClr val="334155"/>
                </a:solidFill>
                <a:latin typeface="Segoe UI"/>
              </a:defRPr>
            </a:pPr>
            <a:r>
              <a:t>[!]  Query Syntax Complexity: ServiceNow encoded query syntax (sysparm_query) requires specialized ITIL training and knowledge of database schema.</a:t>
            </a:r>
          </a:p>
          <a:p>
            <a:pPr>
              <a:spcAft>
                <a:spcPts val="1000"/>
              </a:spcAft>
              <a:defRPr sz="1050">
                <a:solidFill>
                  <a:srgbClr val="334155"/>
                </a:solidFill>
                <a:latin typeface="Segoe UI"/>
              </a:defRPr>
            </a:pPr>
            <a:r>
              <a:t>[!]  Reactive Alert Fatigue: Duplicate incidents occur continuously without automated grouping, obscuring systemic chronic problems.</a:t>
            </a:r>
          </a:p>
          <a:p>
            <a:pPr>
              <a:spcAft>
                <a:spcPts val="1000"/>
              </a:spcAft>
              <a:defRPr sz="1050">
                <a:solidFill>
                  <a:srgbClr val="334155"/>
                </a:solidFill>
                <a:latin typeface="Segoe UI"/>
              </a:defRPr>
            </a:pPr>
            <a:r>
              <a:t>[!]  Fragmented Incident Timelines: Major Sev-1 outage post-mortems require hours of manual log correlation across disparate teams.</a:t>
            </a:r>
          </a:p>
          <a:p>
            <a:pPr>
              <a:spcAft>
                <a:spcPts val="1000"/>
              </a:spcAft>
              <a:defRPr sz="1050">
                <a:solidFill>
                  <a:srgbClr val="334155"/>
                </a:solidFill>
                <a:latin typeface="Segoe UI"/>
              </a:defRPr>
            </a:pPr>
            <a:r>
              <a:t>[!]  Manual Executive Document Prep: Leaders spend hours extracting metrics into Excel and Word before management reviews.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08776" y="1737360"/>
            <a:ext cx="5248656" cy="44805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208776" y="1737360"/>
            <a:ext cx="5248656" cy="54864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83096" y="1965960"/>
            <a:ext cx="4700016" cy="4023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400"/>
              </a:spcAft>
              <a:defRPr sz="1300" b="1">
                <a:solidFill>
                  <a:srgbClr val="10B981"/>
                </a:solidFill>
                <a:latin typeface="Segoe UI"/>
              </a:defRPr>
            </a:pPr>
            <a:r>
              <a:t>NATURAL LANGUAGE AI SOLUTION</a:t>
            </a:r>
          </a:p>
          <a:p>
            <a:pPr>
              <a:spcAft>
                <a:spcPts val="1000"/>
              </a:spcAft>
              <a:defRPr sz="1050">
                <a:solidFill>
                  <a:srgbClr val="334155"/>
                </a:solidFill>
                <a:latin typeface="Segoe UI"/>
              </a:defRPr>
            </a:pPr>
            <a:r>
              <a:t>[+]  Instant Conversational Access: Ask plain English questions like 'What incidents occurred yesterday?' and get answers in under 1 second.</a:t>
            </a:r>
          </a:p>
          <a:p>
            <a:pPr>
              <a:spcAft>
                <a:spcPts val="1000"/>
              </a:spcAft>
              <a:defRPr sz="1050">
                <a:solidFill>
                  <a:srgbClr val="334155"/>
                </a:solidFill>
                <a:latin typeface="Segoe UI"/>
              </a:defRPr>
            </a:pPr>
            <a:r>
              <a:t>[+]  Automated Query Translation: Semantic NLP engine translates business questions directly into optimized ServiceNow sysparm_query parameters.</a:t>
            </a:r>
          </a:p>
          <a:p>
            <a:pPr>
              <a:spcAft>
                <a:spcPts val="1000"/>
              </a:spcAft>
              <a:defRPr sz="1050">
                <a:solidFill>
                  <a:srgbClr val="334155"/>
                </a:solidFill>
                <a:latin typeface="Segoe UI"/>
              </a:defRPr>
            </a:pPr>
            <a:r>
              <a:t>[+]  Intelligent Pattern Clustering: Auto-clusters repeat incidents sharing identical error signatures into high-confidence root causes.</a:t>
            </a:r>
          </a:p>
          <a:p>
            <a:pPr>
              <a:spcAft>
                <a:spcPts val="1000"/>
              </a:spcAft>
              <a:defRPr sz="1050">
                <a:solidFill>
                  <a:srgbClr val="334155"/>
                </a:solidFill>
                <a:latin typeface="Segoe UI"/>
              </a:defRPr>
            </a:pPr>
            <a:r>
              <a:t>[+]  Automated SRE Chronologies: Reconstructs end-to-end outage timelines from detection through recovery with single-click post-mortems.</a:t>
            </a:r>
          </a:p>
          <a:p>
            <a:pPr>
              <a:spcAft>
                <a:spcPts val="1000"/>
              </a:spcAft>
              <a:defRPr sz="1050">
                <a:solidFill>
                  <a:srgbClr val="334155"/>
                </a:solidFill>
                <a:latin typeface="Segoe UI"/>
              </a:defRPr>
            </a:pPr>
            <a:r>
              <a:t>[+]  1-Click Multi-Format Export: Generates branded PDF summaries, editable Word docs, and multi-tab Excel workbooks on demand.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" y="6400800"/>
            <a:ext cx="10728655" cy="9144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6446520"/>
            <a:ext cx="64008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Segoe UI"/>
              </a:defRPr>
            </a:pPr>
            <a:r>
              <a:t>Natural Language Incident Analytics &amp; Reporting | Enterprise Solution Reference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0" y="6446520"/>
            <a:ext cx="3687775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900">
                <a:solidFill>
                  <a:srgbClr val="64748B"/>
                </a:solidFill>
                <a:latin typeface="Segoe UI"/>
              </a:defRPr>
            </a:pPr>
            <a:r>
              <a:t>Slide 2 of 12 | Confidential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10B981"/>
                </a:solidFill>
                <a:latin typeface="Segoe UI"/>
              </a:defRPr>
            </a:pPr>
            <a:r>
              <a:t>ENTERPRISE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21792"/>
            <a:ext cx="1069848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Segoe UI"/>
              </a:defRPr>
            </a:pPr>
            <a:r>
              <a:t>Modern 4-Tier Scalable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4300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>
                <a:solidFill>
                  <a:srgbClr val="64748B"/>
                </a:solidFill>
                <a:latin typeface="Segoe UI"/>
              </a:defRPr>
            </a:pPr>
            <a:r>
              <a:t>Decoupled architecture connecting React frontend, FastAPI gateway, MCP tool layer, and ServiceNow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508760"/>
            <a:ext cx="10728655" cy="13716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737360"/>
            <a:ext cx="2542032" cy="44805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31520" y="1737360"/>
            <a:ext cx="2542032" cy="54864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96112" y="1920240"/>
            <a:ext cx="2212848" cy="4114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250" b="1">
                <a:solidFill>
                  <a:srgbClr val="2563EB"/>
                </a:solidFill>
                <a:latin typeface="Segoe UI"/>
              </a:defRPr>
            </a:pPr>
            <a:r>
              <a:t>1. Presentation Layer</a:t>
            </a:r>
          </a:p>
          <a:p>
            <a:pPr>
              <a:spcAft>
                <a:spcPts val="1200"/>
              </a:spcAft>
              <a:defRPr sz="950">
                <a:solidFill>
                  <a:srgbClr val="64748B"/>
                </a:solidFill>
                <a:latin typeface="Segoe UI"/>
              </a:defRPr>
            </a:pPr>
            <a:r>
              <a:t>Modern React 18 + Vite Web App</a:t>
            </a:r>
          </a:p>
          <a:p>
            <a:pPr>
              <a:spcAft>
                <a:spcPts val="600"/>
              </a:spcAft>
              <a:defRPr sz="950">
                <a:solidFill>
                  <a:srgbClr val="334155"/>
                </a:solidFill>
                <a:latin typeface="Segoe UI"/>
              </a:defRPr>
            </a:pPr>
            <a:r>
              <a:t>- ChatGPT-like conversational UI with prompt chips</a:t>
            </a:r>
          </a:p>
          <a:p>
            <a:pPr>
              <a:spcAft>
                <a:spcPts val="600"/>
              </a:spcAft>
              <a:defRPr sz="950">
                <a:solidFill>
                  <a:srgbClr val="334155"/>
                </a:solidFill>
                <a:latin typeface="Segoe UI"/>
              </a:defRPr>
            </a:pPr>
            <a:r>
              <a:t>- Executive KPI dashboard with native SVG charts</a:t>
            </a:r>
          </a:p>
          <a:p>
            <a:pPr>
              <a:spcAft>
                <a:spcPts val="600"/>
              </a:spcAft>
              <a:defRPr sz="950">
                <a:solidFill>
                  <a:srgbClr val="334155"/>
                </a:solidFill>
                <a:latin typeface="Segoe UI"/>
              </a:defRPr>
            </a:pPr>
            <a:r>
              <a:t>- Recurring incident clustering &amp; RCA explorer</a:t>
            </a:r>
          </a:p>
          <a:p>
            <a:pPr>
              <a:spcAft>
                <a:spcPts val="600"/>
              </a:spcAft>
              <a:defRPr sz="950">
                <a:solidFill>
                  <a:srgbClr val="334155"/>
                </a:solidFill>
                <a:latin typeface="Segoe UI"/>
              </a:defRPr>
            </a:pPr>
            <a:r>
              <a:t>- Outage timeline investigation &amp; blast radius mapper</a:t>
            </a:r>
          </a:p>
          <a:p>
            <a:pPr>
              <a:spcAft>
                <a:spcPts val="600"/>
              </a:spcAft>
              <a:defRPr sz="950">
                <a:solidFill>
                  <a:srgbClr val="334155"/>
                </a:solidFill>
                <a:latin typeface="Segoe UI"/>
              </a:defRPr>
            </a:pPr>
            <a:r>
              <a:t>- Interactive deep-links directly into ServiceNow records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56432" y="1737360"/>
            <a:ext cx="2542032" cy="44805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3456432" y="1737360"/>
            <a:ext cx="2542032" cy="54864"/>
          </a:xfrm>
          <a:prstGeom prst="round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21024" y="1920240"/>
            <a:ext cx="2212848" cy="4114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250" b="1">
                <a:solidFill>
                  <a:srgbClr val="8B5CF6"/>
                </a:solidFill>
                <a:latin typeface="Segoe UI"/>
              </a:defRPr>
            </a:pPr>
            <a:r>
              <a:t>2. AI Gateway Layer</a:t>
            </a:r>
          </a:p>
          <a:p>
            <a:pPr>
              <a:spcAft>
                <a:spcPts val="1200"/>
              </a:spcAft>
              <a:defRPr sz="950">
                <a:solidFill>
                  <a:srgbClr val="64748B"/>
                </a:solidFill>
                <a:latin typeface="Segoe UI"/>
              </a:defRPr>
            </a:pPr>
            <a:r>
              <a:t>Python FastAPI + NLP Engine</a:t>
            </a:r>
          </a:p>
          <a:p>
            <a:pPr>
              <a:spcAft>
                <a:spcPts val="600"/>
              </a:spcAft>
              <a:defRPr sz="950">
                <a:solidFill>
                  <a:srgbClr val="334155"/>
                </a:solidFill>
                <a:latin typeface="Segoe UI"/>
              </a:defRPr>
            </a:pPr>
            <a:r>
              <a:t>- Intent Detection Engine (Queries, Outages, RCA, Reports)</a:t>
            </a:r>
          </a:p>
          <a:p>
            <a:pPr>
              <a:spcAft>
                <a:spcPts val="600"/>
              </a:spcAft>
              <a:defRPr sz="950">
                <a:solidFill>
                  <a:srgbClr val="334155"/>
                </a:solidFill>
                <a:latin typeface="Segoe UI"/>
              </a:defRPr>
            </a:pPr>
            <a:r>
              <a:t>- Query Translator: Plain English -&gt; ServiceNow sysparm_query</a:t>
            </a:r>
          </a:p>
          <a:p>
            <a:pPr>
              <a:spcAft>
                <a:spcPts val="600"/>
              </a:spcAft>
              <a:defRPr sz="950">
                <a:solidFill>
                  <a:srgbClr val="334155"/>
                </a:solidFill>
                <a:latin typeface="Segoe UI"/>
              </a:defRPr>
            </a:pPr>
            <a:r>
              <a:t>- Conversation Memory Manager with multi-turn context</a:t>
            </a:r>
          </a:p>
          <a:p>
            <a:pPr>
              <a:spcAft>
                <a:spcPts val="600"/>
              </a:spcAft>
              <a:defRPr sz="950">
                <a:solidFill>
                  <a:srgbClr val="334155"/>
                </a:solidFill>
                <a:latin typeface="Segoe UI"/>
              </a:defRPr>
            </a:pPr>
            <a:r>
              <a:t>- Query Inspector &amp; Telemetry audit logging service</a:t>
            </a:r>
          </a:p>
          <a:p>
            <a:pPr>
              <a:spcAft>
                <a:spcPts val="600"/>
              </a:spcAft>
              <a:defRPr sz="950">
                <a:solidFill>
                  <a:srgbClr val="334155"/>
                </a:solidFill>
                <a:latin typeface="Segoe UI"/>
              </a:defRPr>
            </a:pPr>
            <a:r>
              <a:t>- Anti-injection security guardrails &amp; parameter sanitization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81344" y="1737360"/>
            <a:ext cx="2542032" cy="44805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181344" y="1737360"/>
            <a:ext cx="2542032" cy="54864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45936" y="1920240"/>
            <a:ext cx="2212848" cy="4114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250" b="1">
                <a:solidFill>
                  <a:srgbClr val="10B981"/>
                </a:solidFill>
                <a:latin typeface="Segoe UI"/>
              </a:defRPr>
            </a:pPr>
            <a:r>
              <a:t>3. Model Context Protocol</a:t>
            </a:r>
          </a:p>
          <a:p>
            <a:pPr>
              <a:spcAft>
                <a:spcPts val="1200"/>
              </a:spcAft>
              <a:defRPr sz="950">
                <a:solidFill>
                  <a:srgbClr val="64748B"/>
                </a:solidFill>
                <a:latin typeface="Segoe UI"/>
              </a:defRPr>
            </a:pPr>
            <a:r>
              <a:t>Decoupled MCP Tool Registry</a:t>
            </a:r>
          </a:p>
          <a:p>
            <a:pPr>
              <a:spcAft>
                <a:spcPts val="600"/>
              </a:spcAft>
              <a:defRPr sz="950">
                <a:solidFill>
                  <a:srgbClr val="334155"/>
                </a:solidFill>
                <a:latin typeface="Segoe UI"/>
              </a:defRPr>
            </a:pPr>
            <a:r>
              <a:t>- servicenow_mcp: query_incidents, get_incident_detail, cmdb</a:t>
            </a:r>
          </a:p>
          <a:p>
            <a:pPr>
              <a:spcAft>
                <a:spcPts val="600"/>
              </a:spcAft>
              <a:defRPr sz="950">
                <a:solidFill>
                  <a:srgbClr val="334155"/>
                </a:solidFill>
                <a:latin typeface="Segoe UI"/>
              </a:defRPr>
            </a:pPr>
            <a:r>
              <a:t>- analytics_mcp: calculate_kpis (MTTR, MTBF, SLA), cluster_rca</a:t>
            </a:r>
          </a:p>
          <a:p>
            <a:pPr>
              <a:spcAft>
                <a:spcPts val="600"/>
              </a:spcAft>
              <a:defRPr sz="950">
                <a:solidFill>
                  <a:srgbClr val="334155"/>
                </a:solidFill>
                <a:latin typeface="Segoe UI"/>
              </a:defRPr>
            </a:pPr>
            <a:r>
              <a:t>- reporting_mcp: generate_executive_report, export_documents</a:t>
            </a:r>
          </a:p>
          <a:p>
            <a:pPr>
              <a:spcAft>
                <a:spcPts val="600"/>
              </a:spcAft>
              <a:defRPr sz="950">
                <a:solidFill>
                  <a:srgbClr val="334155"/>
                </a:solidFill>
                <a:latin typeface="Segoe UI"/>
              </a:defRPr>
            </a:pPr>
            <a:r>
              <a:t>- Standardized JSON-RPC 2.0 interface for any LLM agent</a:t>
            </a:r>
          </a:p>
          <a:p>
            <a:pPr>
              <a:spcAft>
                <a:spcPts val="600"/>
              </a:spcAft>
              <a:defRPr sz="950">
                <a:solidFill>
                  <a:srgbClr val="334155"/>
                </a:solidFill>
                <a:latin typeface="Segoe UI"/>
              </a:defRPr>
            </a:pPr>
            <a:r>
              <a:t>- Seamless extensibility for Jira, PagerDuty, or Datadog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906256" y="1737360"/>
            <a:ext cx="2542032" cy="44805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906256" y="1737360"/>
            <a:ext cx="2542032" cy="54864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070848" y="1920240"/>
            <a:ext cx="2212848" cy="4114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250" b="1">
                <a:solidFill>
                  <a:srgbClr val="F59E0B"/>
                </a:solidFill>
                <a:latin typeface="Segoe UI"/>
              </a:defRPr>
            </a:pPr>
            <a:r>
              <a:t>4. Data &amp; Integration Layer</a:t>
            </a:r>
          </a:p>
          <a:p>
            <a:pPr>
              <a:spcAft>
                <a:spcPts val="1200"/>
              </a:spcAft>
              <a:defRPr sz="950">
                <a:solidFill>
                  <a:srgbClr val="64748B"/>
                </a:solidFill>
                <a:latin typeface="Segoe UI"/>
              </a:defRPr>
            </a:pPr>
            <a:r>
              <a:t>Live ServiceNow PDI &amp; Fallback</a:t>
            </a:r>
          </a:p>
          <a:p>
            <a:pPr>
              <a:spcAft>
                <a:spcPts val="600"/>
              </a:spcAft>
              <a:defRPr sz="950">
                <a:solidFill>
                  <a:srgbClr val="334155"/>
                </a:solidFill>
                <a:latin typeface="Segoe UI"/>
              </a:defRPr>
            </a:pPr>
            <a:r>
              <a:t>- Live REST Table API connector: dev204434.service-now.com</a:t>
            </a:r>
          </a:p>
          <a:p>
            <a:pPr>
              <a:spcAft>
                <a:spcPts val="600"/>
              </a:spcAft>
              <a:defRPr sz="950">
                <a:solidFill>
                  <a:srgbClr val="334155"/>
                </a:solidFill>
                <a:latin typeface="Segoe UI"/>
              </a:defRPr>
            </a:pPr>
            <a:r>
              <a:t>- Authenticated via HTTP Basic Auth with corporate SSL bypass</a:t>
            </a:r>
          </a:p>
          <a:p>
            <a:pPr>
              <a:spcAft>
                <a:spcPts val="600"/>
              </a:spcAft>
              <a:defRPr sz="950">
                <a:solidFill>
                  <a:srgbClr val="334155"/>
                </a:solidFill>
                <a:latin typeface="Segoe UI"/>
              </a:defRPr>
            </a:pPr>
            <a:r>
              <a:t>- Direct Table endpoints: incident, problem, change, cmdb_ci</a:t>
            </a:r>
          </a:p>
          <a:p>
            <a:pPr>
              <a:spcAft>
                <a:spcPts val="600"/>
              </a:spcAft>
              <a:defRPr sz="950">
                <a:solidFill>
                  <a:srgbClr val="334155"/>
                </a:solidFill>
                <a:latin typeface="Segoe UI"/>
              </a:defRPr>
            </a:pPr>
            <a:r>
              <a:t>- High-fidelity enterprise simulation engine (100+ seed records)</a:t>
            </a:r>
          </a:p>
          <a:p>
            <a:pPr>
              <a:spcAft>
                <a:spcPts val="600"/>
              </a:spcAft>
              <a:defRPr sz="950">
                <a:solidFill>
                  <a:srgbClr val="334155"/>
                </a:solidFill>
                <a:latin typeface="Segoe UI"/>
              </a:defRPr>
            </a:pPr>
            <a:r>
              <a:t>- Guarantees 100% demo uptime when PDI instance hibernates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31520" y="6400800"/>
            <a:ext cx="10728655" cy="9144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1520" y="6446520"/>
            <a:ext cx="64008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Segoe UI"/>
              </a:defRPr>
            </a:pPr>
            <a:r>
              <a:t>Natural Language Incident Analytics &amp; Reporting | Enterprise Solution Reference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0" y="6446520"/>
            <a:ext cx="3687775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900">
                <a:solidFill>
                  <a:srgbClr val="64748B"/>
                </a:solidFill>
                <a:latin typeface="Segoe UI"/>
              </a:defRPr>
            </a:pPr>
            <a:r>
              <a:t>Slide 3 of 12 | Confidential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10B981"/>
                </a:solidFill>
                <a:latin typeface="Segoe UI"/>
              </a:defRPr>
            </a:pPr>
            <a:r>
              <a:t>NATURAL LANGUAGE PROCESSING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21792"/>
            <a:ext cx="1069848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Segoe UI"/>
              </a:defRPr>
            </a:pPr>
            <a:r>
              <a:t>Translating English to ServiceNow sysparm_query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4300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>
                <a:solidFill>
                  <a:srgbClr val="64748B"/>
                </a:solidFill>
                <a:latin typeface="Segoe UI"/>
              </a:defRPr>
            </a:pPr>
            <a:r>
              <a:t>Zero SQL, zero manual coding: Natural language translated into production-grade ServiceNow filters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508760"/>
            <a:ext cx="10728655" cy="13716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737360"/>
            <a:ext cx="5248656" cy="2121408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31520" y="1737360"/>
            <a:ext cx="5248656" cy="54864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32688" y="1901952"/>
            <a:ext cx="4846320" cy="179222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0F172A"/>
                </a:solidFill>
                <a:latin typeface="Segoe UI"/>
              </a:defRPr>
            </a:pPr>
            <a:r>
              <a:t>USER PROMPT:  "What incidents were reported yesterday?"</a:t>
            </a:r>
          </a:p>
          <a:p>
            <a:pPr>
              <a:spcAft>
                <a:spcPts val="600"/>
              </a:spcAft>
              <a:defRPr sz="900">
                <a:solidFill>
                  <a:srgbClr val="2563EB"/>
                </a:solidFill>
                <a:latin typeface="Segoe UI"/>
              </a:defRPr>
            </a:pPr>
            <a:r>
              <a:t>Intent: QUERY_INCIDENTS  |  Target Table: incident</a:t>
            </a:r>
          </a:p>
          <a:p>
            <a:pPr>
              <a:spcAft>
                <a:spcPts val="600"/>
              </a:spcAft>
              <a:defRPr sz="850">
                <a:solidFill>
                  <a:srgbClr val="0F172A"/>
                </a:solidFill>
                <a:latin typeface="Consolas"/>
              </a:defRPr>
            </a:pPr>
            <a:r>
              <a:t>sysparm_query = opened_atONYesterday@javascript:gs.beginningOfYesterday()@javascript:gs.endOfYesterday()^ORDERBYDESCopened_at</a:t>
            </a:r>
          </a:p>
          <a:p>
            <a:pPr>
              <a:defRPr sz="950">
                <a:solidFill>
                  <a:srgbClr val="64748B"/>
                </a:solidFill>
                <a:latin typeface="Segoe UI"/>
              </a:defRPr>
            </a:pPr>
            <a:r>
              <a:t>Behavior: Evaluates ServiceNow GlideSystem date macros to isolate yesterday's tickets chronologically.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08776" y="1737360"/>
            <a:ext cx="5248656" cy="2121408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208776" y="1737360"/>
            <a:ext cx="5248656" cy="54864"/>
          </a:xfrm>
          <a:prstGeom prst="round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9944" y="1901952"/>
            <a:ext cx="4846320" cy="179222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0F172A"/>
                </a:solidFill>
                <a:latin typeface="Segoe UI"/>
              </a:defRPr>
            </a:pPr>
            <a:r>
              <a:t>USER PROMPT:  "Show all P1 incidents from last week"</a:t>
            </a:r>
          </a:p>
          <a:p>
            <a:pPr>
              <a:spcAft>
                <a:spcPts val="600"/>
              </a:spcAft>
              <a:defRPr sz="900">
                <a:solidFill>
                  <a:srgbClr val="EF4444"/>
                </a:solidFill>
                <a:latin typeface="Segoe UI"/>
              </a:defRPr>
            </a:pPr>
            <a:r>
              <a:t>Intent: QUERY_INCIDENTS  |  Target Table: incident</a:t>
            </a:r>
          </a:p>
          <a:p>
            <a:pPr>
              <a:spcAft>
                <a:spcPts val="600"/>
              </a:spcAft>
              <a:defRPr sz="850">
                <a:solidFill>
                  <a:srgbClr val="0F172A"/>
                </a:solidFill>
                <a:latin typeface="Consolas"/>
              </a:defRPr>
            </a:pPr>
            <a:r>
              <a:t>sysparm_query = priority=1^opened_atONLast week@javascript:gs.beginningOfLastWeek()@javascript:gs.endOfLastWeek()^ORDERBYDESCopened_at</a:t>
            </a:r>
          </a:p>
          <a:p>
            <a:pPr>
              <a:defRPr sz="950">
                <a:solidFill>
                  <a:srgbClr val="64748B"/>
                </a:solidFill>
                <a:latin typeface="Segoe UI"/>
              </a:defRPr>
            </a:pPr>
            <a:r>
              <a:t>Behavior: Filters Sev-1 outages from the previous 7-day calendar window for executive SLA review.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4078224"/>
            <a:ext cx="5248656" cy="2121408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731520" y="4078224"/>
            <a:ext cx="5248656" cy="54864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32688" y="4242816"/>
            <a:ext cx="4846320" cy="179222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0F172A"/>
                </a:solidFill>
                <a:latin typeface="Segoe UI"/>
              </a:defRPr>
            </a:pPr>
            <a:r>
              <a:t>USER PROMPT:  "How many incidents are currently open?"</a:t>
            </a:r>
          </a:p>
          <a:p>
            <a:pPr>
              <a:spcAft>
                <a:spcPts val="600"/>
              </a:spcAft>
              <a:defRPr sz="900">
                <a:solidFill>
                  <a:srgbClr val="F59E0B"/>
                </a:solidFill>
                <a:latin typeface="Segoe UI"/>
              </a:defRPr>
            </a:pPr>
            <a:r>
              <a:t>Intent: METRICS_KPI  |  Target Table: incident</a:t>
            </a:r>
          </a:p>
          <a:p>
            <a:pPr>
              <a:spcAft>
                <a:spcPts val="600"/>
              </a:spcAft>
              <a:defRPr sz="850">
                <a:solidFill>
                  <a:srgbClr val="0F172A"/>
                </a:solidFill>
                <a:latin typeface="Consolas"/>
              </a:defRPr>
            </a:pPr>
            <a:r>
              <a:t>sysparm_query = stateIN1,2,3^active=true^ORDERBYDESCopened_at</a:t>
            </a:r>
          </a:p>
          <a:p>
            <a:pPr>
              <a:defRPr sz="950">
                <a:solidFill>
                  <a:srgbClr val="64748B"/>
                </a:solidFill>
                <a:latin typeface="Segoe UI"/>
              </a:defRPr>
            </a:pPr>
            <a:r>
              <a:t>Behavior: Queries unclosed operational states (New, In Progress, On Hold) across all assignment groups.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08776" y="4078224"/>
            <a:ext cx="5248656" cy="2121408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208776" y="4078224"/>
            <a:ext cx="5248656" cy="54864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9944" y="4242816"/>
            <a:ext cx="4846320" cy="179222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0F172A"/>
                </a:solidFill>
                <a:latin typeface="Segoe UI"/>
              </a:defRPr>
            </a:pPr>
            <a:r>
              <a:t>USER PROMPT:  "Ticket a ServiceNow incident: SAP ORA01 DB timeout (P1)"</a:t>
            </a:r>
          </a:p>
          <a:p>
            <a:pPr>
              <a:spcAft>
                <a:spcPts val="600"/>
              </a:spcAft>
              <a:defRPr sz="900">
                <a:solidFill>
                  <a:srgbClr val="10B981"/>
                </a:solidFill>
                <a:latin typeface="Segoe UI"/>
              </a:defRPr>
            </a:pPr>
            <a:r>
              <a:t>Intent: CREATE_INCIDENT  |  Target Table: incident</a:t>
            </a:r>
          </a:p>
          <a:p>
            <a:pPr>
              <a:spcAft>
                <a:spcPts val="600"/>
              </a:spcAft>
              <a:defRPr sz="850">
                <a:solidFill>
                  <a:srgbClr val="0F172A"/>
                </a:solidFill>
                <a:latin typeface="Consolas"/>
              </a:defRPr>
            </a:pPr>
            <a:r>
              <a:t>sysparm_query = POST /api/now/table/incident {priority: 1, cmdb_ci: 'SAP ORA01', category: 'database'}</a:t>
            </a:r>
          </a:p>
          <a:p>
            <a:pPr>
              <a:defRPr sz="950">
                <a:solidFill>
                  <a:srgbClr val="64748B"/>
                </a:solidFill>
                <a:latin typeface="Segoe UI"/>
              </a:defRPr>
            </a:pPr>
            <a:r>
              <a:t>Behavior: Creates live ServiceNow ticket via MCP tool with priority, CI mapping, and returns instant deep-link.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31520" y="6400800"/>
            <a:ext cx="10728655" cy="9144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1520" y="6446520"/>
            <a:ext cx="64008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Segoe UI"/>
              </a:defRPr>
            </a:pPr>
            <a:r>
              <a:t>Natural Language Incident Analytics &amp; Reporting | Enterprise Solution Reference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0" y="6446520"/>
            <a:ext cx="3687775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900">
                <a:solidFill>
                  <a:srgbClr val="64748B"/>
                </a:solidFill>
                <a:latin typeface="Segoe UI"/>
              </a:defRPr>
            </a:pPr>
            <a:r>
              <a:t>Slide 4 of 12 | Confidential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10B981"/>
                </a:solidFill>
                <a:latin typeface="Segoe UI"/>
              </a:defRPr>
            </a:pPr>
            <a:r>
              <a:t>OPERATIONAL INTELLIGENCE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21792"/>
            <a:ext cx="1069848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Segoe UI"/>
              </a:defRPr>
            </a:pPr>
            <a:r>
              <a:t>Real-Time Telemetry &amp; KPI Analytics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4300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>
                <a:solidFill>
                  <a:srgbClr val="64748B"/>
                </a:solidFill>
                <a:latin typeface="Segoe UI"/>
              </a:defRPr>
            </a:pPr>
            <a:r>
              <a:t>Aggregated operational performance benchmarks retrieved live from ServiceNow dev204434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508760"/>
            <a:ext cx="10728655" cy="13716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737360"/>
            <a:ext cx="1664208" cy="12801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31520" y="1737360"/>
            <a:ext cx="1664208" cy="54864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8" y="1874520"/>
            <a:ext cx="1444752" cy="1051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850" b="1">
                <a:solidFill>
                  <a:srgbClr val="64748B"/>
                </a:solidFill>
                <a:latin typeface="Segoe UI"/>
              </a:defRPr>
            </a:pPr>
            <a:r>
              <a:t>TOTAL INCIDENTS</a:t>
            </a:r>
          </a:p>
          <a:p>
            <a:pPr>
              <a:spcAft>
                <a:spcPts val="200"/>
              </a:spcAft>
              <a:defRPr sz="2400" b="1">
                <a:solidFill>
                  <a:srgbClr val="2563EB"/>
                </a:solidFill>
                <a:latin typeface="Segoe UI"/>
              </a:defRPr>
            </a:pPr>
            <a:r>
              <a:t>67</a:t>
            </a:r>
          </a:p>
          <a:p>
            <a:pPr>
              <a:defRPr sz="800">
                <a:solidFill>
                  <a:srgbClr val="334155"/>
                </a:solidFill>
                <a:latin typeface="Segoe UI"/>
              </a:defRPr>
            </a:pPr>
            <a:r>
              <a:t>Live PDI Records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542032" y="1737360"/>
            <a:ext cx="1664208" cy="12801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2542032" y="1737360"/>
            <a:ext cx="1664208" cy="54864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651760" y="1874520"/>
            <a:ext cx="1444752" cy="1051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850" b="1">
                <a:solidFill>
                  <a:srgbClr val="64748B"/>
                </a:solidFill>
                <a:latin typeface="Segoe UI"/>
              </a:defRPr>
            </a:pPr>
            <a:r>
              <a:t>OPEN QUEUE</a:t>
            </a:r>
          </a:p>
          <a:p>
            <a:pPr>
              <a:spcAft>
                <a:spcPts val="200"/>
              </a:spcAft>
              <a:defRPr sz="2400" b="1">
                <a:solidFill>
                  <a:srgbClr val="F59E0B"/>
                </a:solidFill>
                <a:latin typeface="Segoe UI"/>
              </a:defRPr>
            </a:pPr>
            <a:r>
              <a:t>40</a:t>
            </a:r>
          </a:p>
          <a:p>
            <a:pPr>
              <a:defRPr sz="800">
                <a:solidFill>
                  <a:srgbClr val="334155"/>
                </a:solidFill>
                <a:latin typeface="Segoe UI"/>
              </a:defRPr>
            </a:pPr>
            <a:r>
              <a:t>Active In-Flight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52544" y="1737360"/>
            <a:ext cx="1664208" cy="12801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352544" y="1737360"/>
            <a:ext cx="1664208" cy="54864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462272" y="1874520"/>
            <a:ext cx="1444752" cy="1051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850" b="1">
                <a:solidFill>
                  <a:srgbClr val="64748B"/>
                </a:solidFill>
                <a:latin typeface="Segoe UI"/>
              </a:defRPr>
            </a:pPr>
            <a:r>
              <a:t>CLOSED TICKETS</a:t>
            </a:r>
          </a:p>
          <a:p>
            <a:pPr>
              <a:spcAft>
                <a:spcPts val="200"/>
              </a:spcAft>
              <a:defRPr sz="2400" b="1">
                <a:solidFill>
                  <a:srgbClr val="10B981"/>
                </a:solidFill>
                <a:latin typeface="Segoe UI"/>
              </a:defRPr>
            </a:pPr>
            <a:r>
              <a:t>27</a:t>
            </a:r>
          </a:p>
          <a:p>
            <a:pPr>
              <a:defRPr sz="800">
                <a:solidFill>
                  <a:srgbClr val="334155"/>
                </a:solidFill>
                <a:latin typeface="Segoe UI"/>
              </a:defRPr>
            </a:pPr>
            <a:r>
              <a:t>Resolved Successfully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63056" y="1737360"/>
            <a:ext cx="1664208" cy="12801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163056" y="1737360"/>
            <a:ext cx="1664208" cy="54864"/>
          </a:xfrm>
          <a:prstGeom prst="round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272784" y="1874520"/>
            <a:ext cx="1444752" cy="1051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850" b="1">
                <a:solidFill>
                  <a:srgbClr val="64748B"/>
                </a:solidFill>
                <a:latin typeface="Segoe UI"/>
              </a:defRPr>
            </a:pPr>
            <a:r>
              <a:t>P1 CRITICAL</a:t>
            </a:r>
          </a:p>
          <a:p>
            <a:pPr>
              <a:spcAft>
                <a:spcPts val="200"/>
              </a:spcAft>
              <a:defRPr sz="2400" b="1">
                <a:solidFill>
                  <a:srgbClr val="EF4444"/>
                </a:solidFill>
                <a:latin typeface="Segoe UI"/>
              </a:defRPr>
            </a:pPr>
            <a:r>
              <a:t>27</a:t>
            </a:r>
          </a:p>
          <a:p>
            <a:pPr>
              <a:defRPr sz="800">
                <a:solidFill>
                  <a:srgbClr val="334155"/>
                </a:solidFill>
                <a:latin typeface="Segoe UI"/>
              </a:defRPr>
            </a:pPr>
            <a:r>
              <a:t>Urgent Attention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973568" y="1737360"/>
            <a:ext cx="1664208" cy="12801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7973568" y="1737360"/>
            <a:ext cx="1664208" cy="54864"/>
          </a:xfrm>
          <a:prstGeom prst="round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083296" y="1874520"/>
            <a:ext cx="1444752" cy="1051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850" b="1">
                <a:solidFill>
                  <a:srgbClr val="64748B"/>
                </a:solidFill>
                <a:latin typeface="Segoe UI"/>
              </a:defRPr>
            </a:pPr>
            <a:r>
              <a:t>MTTR AVERAGE</a:t>
            </a:r>
          </a:p>
          <a:p>
            <a:pPr>
              <a:spcAft>
                <a:spcPts val="200"/>
              </a:spcAft>
              <a:defRPr sz="2400" b="1">
                <a:solidFill>
                  <a:srgbClr val="8B5CF6"/>
                </a:solidFill>
                <a:latin typeface="Segoe UI"/>
              </a:defRPr>
            </a:pPr>
            <a:r>
              <a:t>3.2h</a:t>
            </a:r>
          </a:p>
          <a:p>
            <a:pPr>
              <a:defRPr sz="800">
                <a:solidFill>
                  <a:srgbClr val="334155"/>
                </a:solidFill>
                <a:latin typeface="Segoe UI"/>
              </a:defRPr>
            </a:pPr>
            <a:r>
              <a:t>Mean Time to Resolve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784080" y="1737360"/>
            <a:ext cx="1664208" cy="12801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9784080" y="1737360"/>
            <a:ext cx="1664208" cy="54864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893808" y="1874520"/>
            <a:ext cx="1444752" cy="1051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850" b="1">
                <a:solidFill>
                  <a:srgbClr val="64748B"/>
                </a:solidFill>
                <a:latin typeface="Segoe UI"/>
              </a:defRPr>
            </a:pPr>
            <a:r>
              <a:t>MTBF</a:t>
            </a:r>
          </a:p>
          <a:p>
            <a:pPr>
              <a:spcAft>
                <a:spcPts val="200"/>
              </a:spcAft>
              <a:defRPr sz="2400" b="1">
                <a:solidFill>
                  <a:srgbClr val="2563EB"/>
                </a:solidFill>
                <a:latin typeface="Segoe UI"/>
              </a:defRPr>
            </a:pPr>
            <a:r>
              <a:t>24.5h</a:t>
            </a:r>
          </a:p>
          <a:p>
            <a:pPr>
              <a:defRPr sz="800">
                <a:solidFill>
                  <a:srgbClr val="334155"/>
                </a:solidFill>
                <a:latin typeface="Segoe UI"/>
              </a:defRPr>
            </a:pPr>
            <a:r>
              <a:t>Mean Time Between Failures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31520" y="3246120"/>
            <a:ext cx="5248656" cy="29718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731520" y="3246120"/>
            <a:ext cx="5248656" cy="54864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60120" y="3429000"/>
            <a:ext cx="4791456" cy="2606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250" b="1">
                <a:solidFill>
                  <a:srgbClr val="2563EB"/>
                </a:solidFill>
                <a:latin typeface="Segoe UI"/>
              </a:defRPr>
            </a:pPr>
            <a:r>
              <a:t>EXECUTIVE VISUAL TELEMETRY</a:t>
            </a:r>
          </a:p>
          <a:p>
            <a:pPr>
              <a:spcAft>
                <a:spcPts val="500"/>
              </a:spcAft>
              <a:defRPr sz="950">
                <a:solidFill>
                  <a:srgbClr val="334155"/>
                </a:solidFill>
                <a:latin typeface="Segoe UI"/>
              </a:defRPr>
            </a:pPr>
            <a:r>
              <a:t>- Priority Donut Chart: Visual split across P1 Critical (Red), P2 High (Orange), P3 Moderate (Yellow), and P4 Low (Blue).</a:t>
            </a:r>
          </a:p>
          <a:p>
            <a:pPr>
              <a:spcAft>
                <a:spcPts val="500"/>
              </a:spcAft>
              <a:defRPr sz="950">
                <a:solidFill>
                  <a:srgbClr val="334155"/>
                </a:solidFill>
                <a:latin typeface="Segoe UI"/>
              </a:defRPr>
            </a:pPr>
            <a:r>
              <a:t>- Incident Volume Trend: Interactive smooth gradient curve showing volume trajectory over 30 days.</a:t>
            </a:r>
          </a:p>
          <a:p>
            <a:pPr>
              <a:spcAft>
                <a:spcPts val="500"/>
              </a:spcAft>
              <a:defRPr sz="950">
                <a:solidFill>
                  <a:srgbClr val="334155"/>
                </a:solidFill>
                <a:latin typeface="Segoe UI"/>
              </a:defRPr>
            </a:pPr>
            <a:r>
              <a:t>- Assignment Group Workload: Ranked horizontal bar chart isolating team capacity (Database, Hardware, Software, Network).</a:t>
            </a:r>
          </a:p>
          <a:p>
            <a:pPr>
              <a:spcAft>
                <a:spcPts val="500"/>
              </a:spcAft>
              <a:defRPr sz="950">
                <a:solidFill>
                  <a:srgbClr val="334155"/>
                </a:solidFill>
                <a:latin typeface="Segoe UI"/>
              </a:defRPr>
            </a:pPr>
            <a:r>
              <a:t>- Top Impacted Applications: Visual frequency of incidents per configuration item (Service Desk, MailServerUS, Sales Force, SAN 001).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208776" y="3246120"/>
            <a:ext cx="5248656" cy="29718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6208776" y="3246120"/>
            <a:ext cx="5248656" cy="54864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37376" y="3429000"/>
            <a:ext cx="4791456" cy="2606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250" b="1">
                <a:solidFill>
                  <a:srgbClr val="10B981"/>
                </a:solidFill>
                <a:latin typeface="Segoe UI"/>
              </a:defRPr>
            </a:pPr>
            <a:r>
              <a:t>INTERACTIVE CONTROLS &amp; DIRECT DEEP-LINKS</a:t>
            </a:r>
          </a:p>
          <a:p>
            <a:pPr>
              <a:spcAft>
                <a:spcPts val="500"/>
              </a:spcAft>
              <a:defRPr sz="950">
                <a:solidFill>
                  <a:srgbClr val="334155"/>
                </a:solidFill>
                <a:latin typeface="Segoe UI"/>
              </a:defRPr>
            </a:pPr>
            <a:r>
              <a:t>- Dynamic Timeframe Filters: Live recalculation across All Time, Past 30 Days, Past 6 Months, March 2026 Peak, Yesterday, Last Week, Last Month via GlideSystem date macros.</a:t>
            </a:r>
          </a:p>
          <a:p>
            <a:pPr>
              <a:spcAft>
                <a:spcPts val="500"/>
              </a:spcAft>
              <a:defRPr sz="950">
                <a:solidFill>
                  <a:srgbClr val="334155"/>
                </a:solidFill>
                <a:latin typeface="Segoe UI"/>
              </a:defRPr>
            </a:pPr>
            <a:r>
              <a:t>- Direct Ticket Deep-Links: Every incident card features a direct link to open the ticket in ServiceNow Classic Navigator.</a:t>
            </a:r>
          </a:p>
          <a:p>
            <a:pPr>
              <a:spcAft>
                <a:spcPts val="500"/>
              </a:spcAft>
              <a:defRPr sz="950">
                <a:solidFill>
                  <a:srgbClr val="334155"/>
                </a:solidFill>
                <a:latin typeface="Segoe UI"/>
              </a:defRPr>
            </a:pPr>
            <a:r>
              <a:t>- AI Post-Mortem Drawer: Click any incident number to open a structured 4-pillar SRE incident review.</a:t>
            </a:r>
          </a:p>
          <a:p>
            <a:pPr>
              <a:spcAft>
                <a:spcPts val="500"/>
              </a:spcAft>
              <a:defRPr sz="950">
                <a:solidFill>
                  <a:srgbClr val="334155"/>
                </a:solidFill>
                <a:latin typeface="Segoe UI"/>
              </a:defRPr>
            </a:pPr>
            <a:r>
              <a:t>- ServiceNow Table REST API: Direct query endpoint: https://dev204434.service-now.com/api/now/table/incident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31520" y="6400800"/>
            <a:ext cx="10728655" cy="9144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31520" y="6446520"/>
            <a:ext cx="64008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Segoe UI"/>
              </a:defRPr>
            </a:pPr>
            <a:r>
              <a:t>Natural Language Incident Analytics &amp; Reporting | Enterprise Solution Reference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772400" y="6446520"/>
            <a:ext cx="3687775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900">
                <a:solidFill>
                  <a:srgbClr val="64748B"/>
                </a:solidFill>
                <a:latin typeface="Segoe UI"/>
              </a:defRPr>
            </a:pPr>
            <a:r>
              <a:t>Slide 5 of 12 | Confidential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10B981"/>
                </a:solidFill>
                <a:latin typeface="Segoe UI"/>
              </a:defRPr>
            </a:pPr>
            <a:r>
              <a:t>ROOT CAUSE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21792"/>
            <a:ext cx="1069848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Segoe UI"/>
              </a:defRPr>
            </a:pPr>
            <a:r>
              <a:t>Automated Recurring Incident Clustering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4300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>
                <a:solidFill>
                  <a:srgbClr val="64748B"/>
                </a:solidFill>
                <a:latin typeface="Segoe UI"/>
              </a:defRPr>
            </a:pPr>
            <a:r>
              <a:t>Eliminating reactive firefighting by grouping repeat failure signatures into actionable problems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508760"/>
            <a:ext cx="10728655" cy="13716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737360"/>
            <a:ext cx="5248656" cy="44805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31520" y="1737360"/>
            <a:ext cx="5248656" cy="54864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965960"/>
            <a:ext cx="4791456" cy="4023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200"/>
              </a:spcAft>
              <a:defRPr sz="1300" b="1">
                <a:solidFill>
                  <a:srgbClr val="F59E0B"/>
                </a:solidFill>
                <a:latin typeface="Segoe UI"/>
              </a:defRPr>
            </a:pPr>
            <a:r>
              <a:t>PRIMARY RECURRING CLUSTER (SERVICENOW PDI)</a:t>
            </a:r>
          </a:p>
          <a:p>
            <a:pPr>
              <a:spcAft>
                <a:spcPts val="800"/>
              </a:spcAft>
              <a:defRPr sz="1050">
                <a:solidFill>
                  <a:srgbClr val="334155"/>
                </a:solidFill>
                <a:latin typeface="Segoe UI"/>
              </a:defRPr>
            </a:pPr>
            <a:r>
              <a:t>Cluster Title: Identity, Access &amp; Account Provisioning</a:t>
            </a:r>
          </a:p>
          <a:p>
            <a:pPr>
              <a:spcAft>
                <a:spcPts val="800"/>
              </a:spcAft>
              <a:defRPr sz="1050">
                <a:solidFill>
                  <a:srgbClr val="334155"/>
                </a:solidFill>
                <a:latin typeface="Segoe UI"/>
              </a:defRPr>
            </a:pPr>
            <a:r>
              <a:t>Detected Frequency: 17 Incidents (25.4% of Monitored ServiceNow Volume)</a:t>
            </a:r>
          </a:p>
          <a:p>
            <a:pPr>
              <a:spcAft>
                <a:spcPts val="800"/>
              </a:spcAft>
              <a:defRPr sz="1050">
                <a:solidFill>
                  <a:srgbClr val="334155"/>
                </a:solidFill>
                <a:latin typeface="Segoe UI"/>
              </a:defRPr>
            </a:pPr>
            <a:r>
              <a:t>Primary Impacted CI: Service Desk / Active Directory</a:t>
            </a:r>
          </a:p>
          <a:p>
            <a:pPr>
              <a:spcAft>
                <a:spcPts val="800"/>
              </a:spcAft>
              <a:defRPr sz="1050">
                <a:solidFill>
                  <a:srgbClr val="334155"/>
                </a:solidFill>
                <a:latin typeface="Segoe UI"/>
              </a:defRPr>
            </a:pPr>
            <a:r>
              <a:t>Linked Problem Record: PRB0000003 (Service Desk Account Backlog)</a:t>
            </a:r>
          </a:p>
          <a:p>
            <a:pPr>
              <a:spcAft>
                <a:spcPts val="800"/>
              </a:spcAft>
              <a:defRPr sz="1050">
                <a:solidFill>
                  <a:srgbClr val="334155"/>
                </a:solidFill>
                <a:latin typeface="Segoe UI"/>
              </a:defRPr>
            </a:pPr>
            <a:r>
              <a:t>Sample Live Ticket: INC0000009 (P1 Critical: Reset my password)</a:t>
            </a:r>
          </a:p>
          <a:p>
            <a:pPr>
              <a:spcAft>
                <a:spcPts val="800"/>
              </a:spcAft>
              <a:defRPr sz="1050">
                <a:solidFill>
                  <a:srgbClr val="334155"/>
                </a:solidFill>
                <a:latin typeface="Segoe UI"/>
              </a:defRPr>
            </a:pPr>
            <a:r>
              <a:t>AI Prescribed Remediation: Deploy self-service password reset (SSPR) portal and automate user provisioning workflows.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08776" y="1737360"/>
            <a:ext cx="5248656" cy="44805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208776" y="1737360"/>
            <a:ext cx="5248656" cy="54864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37376" y="1965960"/>
            <a:ext cx="4791456" cy="4023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200"/>
              </a:spcAft>
              <a:defRPr sz="1300" b="1">
                <a:solidFill>
                  <a:srgbClr val="2563EB"/>
                </a:solidFill>
                <a:latin typeface="Segoe UI"/>
              </a:defRPr>
            </a:pPr>
            <a:r>
              <a:t>ENTERPRISE ROOT CAUSE LEADERBOARD</a:t>
            </a:r>
          </a:p>
          <a:p>
            <a:pPr>
              <a:defRPr sz="1100" b="1">
                <a:solidFill>
                  <a:srgbClr val="0F172A"/>
                </a:solidFill>
                <a:latin typeface="Segoe UI"/>
              </a:defRPr>
            </a:pPr>
            <a:r>
              <a:t>1. Service Desk Password &amp; Account Backlog</a:t>
            </a:r>
          </a:p>
          <a:p>
            <a:pPr>
              <a:spcAft>
                <a:spcPts val="800"/>
              </a:spcAft>
              <a:defRPr sz="950">
                <a:solidFill>
                  <a:srgbClr val="64748B"/>
                </a:solidFill>
                <a:latin typeface="Segoe UI"/>
              </a:defRPr>
            </a:pPr>
            <a:r>
              <a:t>   25.4% Share | 17 Incidents | Service Desk / AD</a:t>
            </a:r>
            <a:br/>
            <a:r>
              <a:t>   Action: Action: Self-service password reset (SSPR) portal</a:t>
            </a:r>
          </a:p>
          <a:p>
            <a:pPr>
              <a:defRPr sz="1100" b="1">
                <a:solidFill>
                  <a:srgbClr val="0F172A"/>
                </a:solidFill>
                <a:latin typeface="Segoe UI"/>
              </a:defRPr>
            </a:pPr>
            <a:r>
              <a:t>2. Workstation Hardware Driver &amp; Peripheral Wear</a:t>
            </a:r>
          </a:p>
          <a:p>
            <a:pPr>
              <a:spcAft>
                <a:spcPts val="800"/>
              </a:spcAft>
              <a:defRPr sz="950">
                <a:solidFill>
                  <a:srgbClr val="64748B"/>
                </a:solidFill>
                <a:latin typeface="Segoe UI"/>
              </a:defRPr>
            </a:pPr>
            <a:r>
              <a:t>   17.9% Share | 12 Incidents | End-User Devices</a:t>
            </a:r>
            <a:br/>
            <a:r>
              <a:t>   Action: Action: Standardized OEM driver updates &amp; hardware refresh</a:t>
            </a:r>
          </a:p>
          <a:p>
            <a:pPr>
              <a:defRPr sz="1100" b="1">
                <a:solidFill>
                  <a:srgbClr val="0F172A"/>
                </a:solidFill>
                <a:latin typeface="Segoe UI"/>
              </a:defRPr>
            </a:pPr>
            <a:r>
              <a:t>3. Exchange Server Connection Drops &amp; Queue Load</a:t>
            </a:r>
          </a:p>
          <a:p>
            <a:pPr>
              <a:spcAft>
                <a:spcPts val="800"/>
              </a:spcAft>
              <a:defRPr sz="950">
                <a:solidFill>
                  <a:srgbClr val="64748B"/>
                </a:solidFill>
                <a:latin typeface="Segoe UI"/>
              </a:defRPr>
            </a:pPr>
            <a:r>
              <a:t>   14.9% Share | 10 Incidents | MailServerUS (EXCH-SD-05)</a:t>
            </a:r>
            <a:br/>
            <a:r>
              <a:t>   Action: Action: Exchange cumulative update &amp; transport queue flush</a:t>
            </a:r>
          </a:p>
          <a:p>
            <a:pPr>
              <a:defRPr sz="1100" b="1">
                <a:solidFill>
                  <a:srgbClr val="0F172A"/>
                </a:solidFill>
                <a:latin typeface="Segoe UI"/>
              </a:defRPr>
            </a:pPr>
            <a:r>
              <a:t>4. Core Switch Port Flapping &amp; Packet Drops</a:t>
            </a:r>
          </a:p>
          <a:p>
            <a:pPr>
              <a:spcAft>
                <a:spcPts val="800"/>
              </a:spcAft>
              <a:defRPr sz="950">
                <a:solidFill>
                  <a:srgbClr val="64748B"/>
                </a:solidFill>
                <a:latin typeface="Segoe UI"/>
              </a:defRPr>
            </a:pPr>
            <a:r>
              <a:t>   11.9% Share | 8 Incidents | Core Switches ny8500</a:t>
            </a:r>
            <a:br/>
            <a:r>
              <a:t>   Action: Action: Replace faulty SFP transceiver on core switch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" y="6400800"/>
            <a:ext cx="10728655" cy="9144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6446520"/>
            <a:ext cx="64008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Segoe UI"/>
              </a:defRPr>
            </a:pPr>
            <a:r>
              <a:t>Natural Language Incident Analytics &amp; Reporting | Enterprise Solution Reference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0" y="6446520"/>
            <a:ext cx="3687775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900">
                <a:solidFill>
                  <a:srgbClr val="64748B"/>
                </a:solidFill>
                <a:latin typeface="Segoe UI"/>
              </a:defRPr>
            </a:pPr>
            <a:r>
              <a:t>Slide 6 of 12 | Confidential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10B981"/>
                </a:solidFill>
                <a:latin typeface="Segoe UI"/>
              </a:defRPr>
            </a:pPr>
            <a:r>
              <a:t>MAJOR INCIDENT MANAGEMENT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21792"/>
            <a:ext cx="1069848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Segoe UI"/>
              </a:defRPr>
            </a:pPr>
            <a:r>
              <a:t>SRE Outage Investigation &amp; Timeline Reconstruction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4300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>
                <a:solidFill>
                  <a:srgbClr val="64748B"/>
                </a:solidFill>
                <a:latin typeface="Segoe UI"/>
              </a:defRPr>
            </a:pPr>
            <a:r>
              <a:t>Reconstructing incident bridge chronology, root cause isolation, and cascading dependencies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508760"/>
            <a:ext cx="10728655" cy="13716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737360"/>
            <a:ext cx="5248656" cy="44805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31520" y="1737360"/>
            <a:ext cx="5248656" cy="54864"/>
          </a:xfrm>
          <a:prstGeom prst="round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965960"/>
            <a:ext cx="4791456" cy="4023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200"/>
              </a:spcAft>
              <a:defRPr sz="1300" b="1">
                <a:solidFill>
                  <a:srgbClr val="EF4444"/>
                </a:solidFill>
                <a:latin typeface="Segoe UI"/>
              </a:defRPr>
            </a:pPr>
            <a:r>
              <a:t>MAJOR INCIDENT CASE STUDY: MAILSERVER OUTAGE</a:t>
            </a:r>
          </a:p>
          <a:p>
            <a:pPr>
              <a:spcAft>
                <a:spcPts val="600"/>
              </a:spcAft>
              <a:defRPr sz="1050">
                <a:solidFill>
                  <a:srgbClr val="334155"/>
                </a:solidFill>
                <a:latin typeface="Segoe UI"/>
              </a:defRPr>
            </a:pPr>
            <a:r>
              <a:t>Ticket Number: INC0000001 (P1 Sev-1 Major Incident)</a:t>
            </a:r>
          </a:p>
          <a:p>
            <a:pPr>
              <a:spcAft>
                <a:spcPts val="600"/>
              </a:spcAft>
              <a:defRPr sz="1050">
                <a:solidFill>
                  <a:srgbClr val="334155"/>
                </a:solidFill>
                <a:latin typeface="Segoe UI"/>
              </a:defRPr>
            </a:pPr>
            <a:r>
              <a:t>Primary Impacted CI: MailServerUS / Exchange (EXCH-SD-05)</a:t>
            </a:r>
          </a:p>
          <a:p>
            <a:pPr>
              <a:spcAft>
                <a:spcPts val="600"/>
              </a:spcAft>
              <a:defRPr sz="1050">
                <a:solidFill>
                  <a:srgbClr val="334155"/>
                </a:solidFill>
                <a:latin typeface="Segoe UI"/>
              </a:defRPr>
            </a:pPr>
            <a:r>
              <a:t>Outage Duration: 2 Hours 15 Minutes</a:t>
            </a:r>
          </a:p>
          <a:p>
            <a:pPr>
              <a:spcAft>
                <a:spcPts val="600"/>
              </a:spcAft>
              <a:defRPr sz="1050">
                <a:solidFill>
                  <a:srgbClr val="334155"/>
                </a:solidFill>
                <a:latin typeface="Segoe UI"/>
              </a:defRPr>
            </a:pPr>
            <a:r>
              <a:t>Cascading Blast Radius: Storage Area Network 001, Sales Force, Corporate Mail Queue</a:t>
            </a:r>
          </a:p>
          <a:p>
            <a:pPr>
              <a:spcAft>
                <a:spcPts val="600"/>
              </a:spcAft>
              <a:defRPr sz="1050">
                <a:solidFill>
                  <a:srgbClr val="334155"/>
                </a:solidFill>
                <a:latin typeface="Segoe UI"/>
              </a:defRPr>
            </a:pPr>
            <a:r>
              <a:t>Business Impact: Inbound and outbound corporate email failure; SLA breach detected.</a:t>
            </a:r>
          </a:p>
          <a:p>
            <a:pPr>
              <a:spcAft>
                <a:spcPts val="600"/>
              </a:spcAft>
              <a:defRPr sz="1050">
                <a:solidFill>
                  <a:srgbClr val="334155"/>
                </a:solidFill>
                <a:latin typeface="Segoe UI"/>
              </a:defRPr>
            </a:pPr>
            <a:r>
              <a:t>Emergency Fix: Exchange Server transport service restarted, queue buffer flushed.</a:t>
            </a:r>
          </a:p>
          <a:p>
            <a:pPr>
              <a:spcAft>
                <a:spcPts val="600"/>
              </a:spcAft>
              <a:defRPr sz="1050">
                <a:solidFill>
                  <a:srgbClr val="334155"/>
                </a:solidFill>
                <a:latin typeface="Segoe UI"/>
              </a:defRPr>
            </a:pPr>
            <a:r>
              <a:t>ServiceNow Direct URL: https://dev204434.service-now.com/nav_to.do?uri=incident.do?sys_id=...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08776" y="1737360"/>
            <a:ext cx="5248656" cy="44805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208776" y="1737360"/>
            <a:ext cx="5248656" cy="54864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37376" y="1965960"/>
            <a:ext cx="4791456" cy="4023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200"/>
              </a:spcAft>
              <a:defRPr sz="1300" b="1">
                <a:solidFill>
                  <a:srgbClr val="2563EB"/>
                </a:solidFill>
                <a:latin typeface="Segoe UI"/>
              </a:defRPr>
            </a:pPr>
            <a:r>
              <a:t>INCIDENT BRIDGE CHRONOLOGY</a:t>
            </a:r>
          </a:p>
          <a:p>
            <a:pPr>
              <a:spcAft>
                <a:spcPts val="600"/>
              </a:spcAft>
              <a:defRPr sz="1000">
                <a:solidFill>
                  <a:srgbClr val="334155"/>
                </a:solidFill>
                <a:latin typeface="Segoe UI"/>
              </a:defRPr>
            </a:pPr>
            <a:r>
              <a:t>- T-00:00 (14:15 UTC): Automated anomaly detection: Transport drops and SMTP timeouts on MailServerUS.</a:t>
            </a:r>
          </a:p>
          <a:p>
            <a:pPr>
              <a:spcAft>
                <a:spcPts val="600"/>
              </a:spcAft>
              <a:defRPr sz="1000">
                <a:solidFill>
                  <a:srgbClr val="334155"/>
                </a:solidFill>
                <a:latin typeface="Segoe UI"/>
              </a:defRPr>
            </a:pPr>
            <a:r>
              <a:t>- T+00:15 (14:30 UTC): Sev-1 Incident Bridge convened with Network and Messaging engineering leads.</a:t>
            </a:r>
          </a:p>
          <a:p>
            <a:pPr>
              <a:spcAft>
                <a:spcPts val="600"/>
              </a:spcAft>
              <a:defRPr sz="1000">
                <a:solidFill>
                  <a:srgbClr val="334155"/>
                </a:solidFill>
                <a:latin typeface="Segoe UI"/>
              </a:defRPr>
            </a:pPr>
            <a:r>
              <a:t>- T+00:45 (15:00 UTC): Root cause isolated: Exchange queue buffer saturation and SAN connection drop.</a:t>
            </a:r>
          </a:p>
          <a:p>
            <a:pPr>
              <a:spcAft>
                <a:spcPts val="600"/>
              </a:spcAft>
              <a:defRPr sz="1000">
                <a:solidFill>
                  <a:srgbClr val="334155"/>
                </a:solidFill>
                <a:latin typeface="Segoe UI"/>
              </a:defRPr>
            </a:pPr>
            <a:r>
              <a:t>- T+01:30 (15:45 UTC): Emergency change approved: Transport services recycled and buffer size expanded.</a:t>
            </a:r>
          </a:p>
          <a:p>
            <a:pPr>
              <a:spcAft>
                <a:spcPts val="600"/>
              </a:spcAft>
              <a:defRPr sz="1000">
                <a:solidFill>
                  <a:srgbClr val="334155"/>
                </a:solidFill>
                <a:latin typeface="Segoe UI"/>
              </a:defRPr>
            </a:pPr>
            <a:r>
              <a:t>- T+02:15 (16:30 UTC): Email delivery normalized; all health checks green; bridge closed.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" y="6400800"/>
            <a:ext cx="10728655" cy="9144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6446520"/>
            <a:ext cx="64008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Segoe UI"/>
              </a:defRPr>
            </a:pPr>
            <a:r>
              <a:t>Natural Language Incident Analytics &amp; Reporting | Enterprise Solution Reference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0" y="6446520"/>
            <a:ext cx="3687775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900">
                <a:solidFill>
                  <a:srgbClr val="64748B"/>
                </a:solidFill>
                <a:latin typeface="Segoe UI"/>
              </a:defRPr>
            </a:pPr>
            <a:r>
              <a:t>Slide 7 of 12 | Confidential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10B981"/>
                </a:solidFill>
                <a:latin typeface="Segoe UI"/>
              </a:defRPr>
            </a:pPr>
            <a:r>
              <a:t>INCIDENT INTELLIGENCE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21792"/>
            <a:ext cx="1069848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Segoe UI"/>
              </a:defRPr>
            </a:pPr>
            <a:r>
              <a:t>Generative AI Incident Post-Mortem Framework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4300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>
                <a:solidFill>
                  <a:srgbClr val="64748B"/>
                </a:solidFill>
                <a:latin typeface="Segoe UI"/>
              </a:defRPr>
            </a:pPr>
            <a:r>
              <a:t>Standardized 4-pillar analysis synthesized automatically from raw incident work notes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508760"/>
            <a:ext cx="10728655" cy="13716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737360"/>
            <a:ext cx="5248656" cy="2121408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31520" y="1737360"/>
            <a:ext cx="5248656" cy="54864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32688" y="1901952"/>
            <a:ext cx="4846320" cy="179222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300" b="1">
                <a:solidFill>
                  <a:srgbClr val="2563EB"/>
                </a:solidFill>
                <a:latin typeface="Segoe UI"/>
              </a:defRPr>
            </a:pPr>
            <a:r>
              <a:t>1. Operational Impact Analysis</a:t>
            </a:r>
          </a:p>
          <a:p>
            <a:pPr>
              <a:spcAft>
                <a:spcPts val="400"/>
              </a:spcAft>
              <a:defRPr sz="1000">
                <a:solidFill>
                  <a:srgbClr val="334155"/>
                </a:solidFill>
                <a:latin typeface="Segoe UI"/>
              </a:defRPr>
            </a:pPr>
            <a:r>
              <a:t>- Quantifies transaction failure volume and latency spikes.</a:t>
            </a:r>
          </a:p>
          <a:p>
            <a:pPr>
              <a:spcAft>
                <a:spcPts val="400"/>
              </a:spcAft>
              <a:defRPr sz="1000">
                <a:solidFill>
                  <a:srgbClr val="334155"/>
                </a:solidFill>
                <a:latin typeface="Segoe UI"/>
              </a:defRPr>
            </a:pPr>
            <a:r>
              <a:t>- Calculates exact downtime duration and SLA violation status.</a:t>
            </a:r>
          </a:p>
          <a:p>
            <a:pPr>
              <a:spcAft>
                <a:spcPts val="400"/>
              </a:spcAft>
              <a:defRPr sz="1000">
                <a:solidFill>
                  <a:srgbClr val="334155"/>
                </a:solidFill>
                <a:latin typeface="Segoe UI"/>
              </a:defRPr>
            </a:pPr>
            <a:r>
              <a:t>- Identifies impacted geographic customer cohorts.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08776" y="1737360"/>
            <a:ext cx="5248656" cy="2121408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208776" y="1737360"/>
            <a:ext cx="5248656" cy="54864"/>
          </a:xfrm>
          <a:prstGeom prst="round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9944" y="1901952"/>
            <a:ext cx="4846320" cy="179222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300" b="1">
                <a:solidFill>
                  <a:srgbClr val="EF4444"/>
                </a:solidFill>
                <a:latin typeface="Segoe UI"/>
              </a:defRPr>
            </a:pPr>
            <a:r>
              <a:t>2. Root Cause Hypothesis</a:t>
            </a:r>
          </a:p>
          <a:p>
            <a:pPr>
              <a:spcAft>
                <a:spcPts val="400"/>
              </a:spcAft>
              <a:defRPr sz="1000">
                <a:solidFill>
                  <a:srgbClr val="334155"/>
                </a:solidFill>
                <a:latin typeface="Segoe UI"/>
              </a:defRPr>
            </a:pPr>
            <a:r>
              <a:t>- Pinpoints underlying technical trigger from logs and stack traces.</a:t>
            </a:r>
          </a:p>
          <a:p>
            <a:pPr>
              <a:spcAft>
                <a:spcPts val="400"/>
              </a:spcAft>
              <a:defRPr sz="1000">
                <a:solidFill>
                  <a:srgbClr val="334155"/>
                </a:solidFill>
                <a:latin typeface="Segoe UI"/>
              </a:defRPr>
            </a:pPr>
            <a:r>
              <a:t>- Correlates failure with recent changes or deployments.</a:t>
            </a:r>
          </a:p>
          <a:p>
            <a:pPr>
              <a:spcAft>
                <a:spcPts val="400"/>
              </a:spcAft>
              <a:defRPr sz="1000">
                <a:solidFill>
                  <a:srgbClr val="334155"/>
                </a:solidFill>
                <a:latin typeface="Segoe UI"/>
              </a:defRPr>
            </a:pPr>
            <a:r>
              <a:t>- Cross-references known error database in ServiceNow problem table.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4078224"/>
            <a:ext cx="5248656" cy="2121408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731520" y="4078224"/>
            <a:ext cx="5248656" cy="54864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32688" y="4242816"/>
            <a:ext cx="4846320" cy="179222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300" b="1">
                <a:solidFill>
                  <a:srgbClr val="10B981"/>
                </a:solidFill>
                <a:latin typeface="Segoe UI"/>
              </a:defRPr>
            </a:pPr>
            <a:r>
              <a:t>3. Resolution &amp; Mitigation</a:t>
            </a:r>
          </a:p>
          <a:p>
            <a:pPr>
              <a:spcAft>
                <a:spcPts val="400"/>
              </a:spcAft>
              <a:defRPr sz="1000">
                <a:solidFill>
                  <a:srgbClr val="334155"/>
                </a:solidFill>
                <a:latin typeface="Segoe UI"/>
              </a:defRPr>
            </a:pPr>
            <a:r>
              <a:t>- Synthesizes emergency recovery steps executed during bridge.</a:t>
            </a:r>
          </a:p>
          <a:p>
            <a:pPr>
              <a:spcAft>
                <a:spcPts val="400"/>
              </a:spcAft>
              <a:defRPr sz="1000">
                <a:solidFill>
                  <a:srgbClr val="334155"/>
                </a:solidFill>
                <a:latin typeface="Segoe UI"/>
              </a:defRPr>
            </a:pPr>
            <a:r>
              <a:t>- Documents rollback procedures, route changes, or patches.</a:t>
            </a:r>
          </a:p>
          <a:p>
            <a:pPr>
              <a:spcAft>
                <a:spcPts val="400"/>
              </a:spcAft>
              <a:defRPr sz="1000">
                <a:solidFill>
                  <a:srgbClr val="334155"/>
                </a:solidFill>
                <a:latin typeface="Segoe UI"/>
              </a:defRPr>
            </a:pPr>
            <a:r>
              <a:t>- Verifies restoration criteria and service health verification.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08776" y="4078224"/>
            <a:ext cx="5248656" cy="2121408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208776" y="4078224"/>
            <a:ext cx="5248656" cy="54864"/>
          </a:xfrm>
          <a:prstGeom prst="round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9944" y="4242816"/>
            <a:ext cx="4846320" cy="179222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300" b="1">
                <a:solidFill>
                  <a:srgbClr val="8B5CF6"/>
                </a:solidFill>
                <a:latin typeface="Segoe UI"/>
              </a:defRPr>
            </a:pPr>
            <a:r>
              <a:t>4. Preventative Safeguards</a:t>
            </a:r>
          </a:p>
          <a:p>
            <a:pPr>
              <a:spcAft>
                <a:spcPts val="400"/>
              </a:spcAft>
              <a:defRPr sz="1000">
                <a:solidFill>
                  <a:srgbClr val="334155"/>
                </a:solidFill>
                <a:latin typeface="Segoe UI"/>
              </a:defRPr>
            </a:pPr>
            <a:r>
              <a:t>- Prescribes permanent architectural fixes (circuit breakers, timeouts).</a:t>
            </a:r>
          </a:p>
          <a:p>
            <a:pPr>
              <a:spcAft>
                <a:spcPts val="400"/>
              </a:spcAft>
              <a:defRPr sz="1000">
                <a:solidFill>
                  <a:srgbClr val="334155"/>
                </a:solidFill>
                <a:latin typeface="Segoe UI"/>
              </a:defRPr>
            </a:pPr>
            <a:r>
              <a:t>- Recommends automated monitoring thresholds and synthetic tests.</a:t>
            </a:r>
          </a:p>
          <a:p>
            <a:pPr>
              <a:spcAft>
                <a:spcPts val="400"/>
              </a:spcAft>
              <a:defRPr sz="1000">
                <a:solidFill>
                  <a:srgbClr val="334155"/>
                </a:solidFill>
                <a:latin typeface="Segoe UI"/>
              </a:defRPr>
            </a:pPr>
            <a:r>
              <a:t>- Generates preventative backlog action items and audit checks.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31520" y="6400800"/>
            <a:ext cx="10728655" cy="9144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1520" y="6446520"/>
            <a:ext cx="64008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Segoe UI"/>
              </a:defRPr>
            </a:pPr>
            <a:r>
              <a:t>Natural Language Incident Analytics &amp; Reporting | Enterprise Solution Reference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0" y="6446520"/>
            <a:ext cx="3687775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900">
                <a:solidFill>
                  <a:srgbClr val="64748B"/>
                </a:solidFill>
                <a:latin typeface="Segoe UI"/>
              </a:defRPr>
            </a:pPr>
            <a:r>
              <a:t>Slide 8 of 12 | Confidential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10B981"/>
                </a:solidFill>
                <a:latin typeface="Segoe UI"/>
              </a:defRPr>
            </a:pPr>
            <a:r>
              <a:t>MODEL CONTEXT PROTOCOL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21792"/>
            <a:ext cx="1069848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Segoe UI"/>
              </a:defRPr>
            </a:pPr>
            <a:r>
              <a:t>Multi-Server MCP Architecture via JSON-RPC 2.0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4300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>
                <a:solidFill>
                  <a:srgbClr val="64748B"/>
                </a:solidFill>
                <a:latin typeface="Segoe UI"/>
              </a:defRPr>
            </a:pPr>
            <a:r>
              <a:t>Decoupled AI tool execution allowing any LLM client to safely query enterprise systems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508760"/>
            <a:ext cx="10728655" cy="13716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737360"/>
            <a:ext cx="3429000" cy="44805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31520" y="1737360"/>
            <a:ext cx="3429000" cy="54864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920240"/>
            <a:ext cx="3063240" cy="4114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300" b="1">
                <a:solidFill>
                  <a:srgbClr val="10B981"/>
                </a:solidFill>
                <a:latin typeface="Segoe UI"/>
              </a:defRPr>
            </a:pPr>
            <a:r>
              <a:t>ServiceNow MCP Server</a:t>
            </a:r>
          </a:p>
          <a:p>
            <a:pPr>
              <a:spcAft>
                <a:spcPts val="1200"/>
              </a:spcAft>
              <a:defRPr sz="900">
                <a:solidFill>
                  <a:srgbClr val="64748B"/>
                </a:solidFill>
                <a:latin typeface="Consolas"/>
              </a:defRPr>
            </a:pPr>
            <a:r>
              <a:t>ID: servicenow_mcp_server</a:t>
            </a:r>
          </a:p>
          <a:p>
            <a:pPr>
              <a:spcAft>
                <a:spcPts val="600"/>
              </a:spcAft>
              <a:defRPr sz="950">
                <a:solidFill>
                  <a:srgbClr val="334155"/>
                </a:solidFill>
                <a:latin typeface="Segoe UI"/>
              </a:defRPr>
            </a:pPr>
            <a:r>
              <a:t>- create_incident(...): Creates live incident in ServiceNow with priority, CI &amp; group mapping.</a:t>
            </a:r>
          </a:p>
          <a:p>
            <a:pPr>
              <a:spcAft>
                <a:spcPts val="600"/>
              </a:spcAft>
              <a:defRPr sz="950">
                <a:solidFill>
                  <a:srgbClr val="334155"/>
                </a:solidFill>
                <a:latin typeface="Segoe UI"/>
              </a:defRPr>
            </a:pPr>
            <a:r>
              <a:t>- query_incidents(sysparm_query, limit, offset): Retrieves operational incidents with filters.</a:t>
            </a:r>
          </a:p>
          <a:p>
            <a:pPr>
              <a:spcAft>
                <a:spcPts val="600"/>
              </a:spcAft>
              <a:defRPr sz="950">
                <a:solidFill>
                  <a:srgbClr val="334155"/>
                </a:solidFill>
                <a:latin typeface="Segoe UI"/>
              </a:defRPr>
            </a:pPr>
            <a:r>
              <a:t>- get_incident_detail(identifier): Fetches full ticket metadata and deep-links.</a:t>
            </a:r>
          </a:p>
          <a:p>
            <a:pPr>
              <a:spcAft>
                <a:spcPts val="600"/>
              </a:spcAft>
              <a:defRPr sz="950">
                <a:solidFill>
                  <a:srgbClr val="334155"/>
                </a:solidFill>
                <a:latin typeface="Segoe UI"/>
              </a:defRPr>
            </a:pPr>
            <a:r>
              <a:t>- query_problems(sysparm_query): Queries known errors and root cause records.</a:t>
            </a:r>
          </a:p>
          <a:p>
            <a:pPr>
              <a:spcAft>
                <a:spcPts val="600"/>
              </a:spcAft>
              <a:defRPr sz="950">
                <a:solidFill>
                  <a:srgbClr val="334155"/>
                </a:solidFill>
                <a:latin typeface="Segoe UI"/>
              </a:defRPr>
            </a:pPr>
            <a:r>
              <a:t>- query_cmdb_ci(sysparm_query): Retrieves configuration items and service topology.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79976" y="1737360"/>
            <a:ext cx="3429000" cy="44805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379976" y="1737360"/>
            <a:ext cx="3429000" cy="54864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62856" y="1920240"/>
            <a:ext cx="3063240" cy="4114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300" b="1">
                <a:solidFill>
                  <a:srgbClr val="2563EB"/>
                </a:solidFill>
                <a:latin typeface="Segoe UI"/>
              </a:defRPr>
            </a:pPr>
            <a:r>
              <a:t>Analytics MCP Server</a:t>
            </a:r>
          </a:p>
          <a:p>
            <a:pPr>
              <a:spcAft>
                <a:spcPts val="1200"/>
              </a:spcAft>
              <a:defRPr sz="900">
                <a:solidFill>
                  <a:srgbClr val="64748B"/>
                </a:solidFill>
                <a:latin typeface="Consolas"/>
              </a:defRPr>
            </a:pPr>
            <a:r>
              <a:t>ID: analytics_mcp_server</a:t>
            </a:r>
          </a:p>
          <a:p>
            <a:pPr>
              <a:spcAft>
                <a:spcPts val="600"/>
              </a:spcAft>
              <a:defRPr sz="950">
                <a:solidFill>
                  <a:srgbClr val="334155"/>
                </a:solidFill>
                <a:latin typeface="Segoe UI"/>
              </a:defRPr>
            </a:pPr>
            <a:r>
              <a:t>- calculate_kpis(filter_query): Computes Total, Open, Closed, P1s, MTTR, MTBF, SLA.</a:t>
            </a:r>
          </a:p>
          <a:p>
            <a:pPr>
              <a:spcAft>
                <a:spcPts val="600"/>
              </a:spcAft>
              <a:defRPr sz="950">
                <a:solidFill>
                  <a:srgbClr val="334155"/>
                </a:solidFill>
                <a:latin typeface="Segoe UI"/>
              </a:defRPr>
            </a:pPr>
            <a:r>
              <a:t>- cluster_recurring_incidents(min_occurrences): Groups repeat error patterns.</a:t>
            </a:r>
          </a:p>
          <a:p>
            <a:pPr>
              <a:spcAft>
                <a:spcPts val="600"/>
              </a:spcAft>
              <a:defRPr sz="950">
                <a:solidFill>
                  <a:srgbClr val="334155"/>
                </a:solidFill>
                <a:latin typeface="Segoe UI"/>
              </a:defRPr>
            </a:pPr>
            <a:r>
              <a:t>- get_root_cause_leaderboard(): Ranks enterprise failure modes by percentage share.</a:t>
            </a:r>
          </a:p>
          <a:p>
            <a:pPr>
              <a:spcAft>
                <a:spcPts val="600"/>
              </a:spcAft>
              <a:defRPr sz="950">
                <a:solidFill>
                  <a:srgbClr val="334155"/>
                </a:solidFill>
                <a:latin typeface="Segoe UI"/>
              </a:defRPr>
            </a:pPr>
            <a:r>
              <a:t>- get_application_analytics(top_n): Computes incident volume distribution by CI.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28432" y="1737360"/>
            <a:ext cx="3429000" cy="44805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8028432" y="1737360"/>
            <a:ext cx="3429000" cy="54864"/>
          </a:xfrm>
          <a:prstGeom prst="round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11312" y="1920240"/>
            <a:ext cx="3063240" cy="4114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300" b="1">
                <a:solidFill>
                  <a:srgbClr val="8B5CF6"/>
                </a:solidFill>
                <a:latin typeface="Segoe UI"/>
              </a:defRPr>
            </a:pPr>
            <a:r>
              <a:t>Reporting MCP Server</a:t>
            </a:r>
          </a:p>
          <a:p>
            <a:pPr>
              <a:spcAft>
                <a:spcPts val="1200"/>
              </a:spcAft>
              <a:defRPr sz="900">
                <a:solidFill>
                  <a:srgbClr val="64748B"/>
                </a:solidFill>
                <a:latin typeface="Consolas"/>
              </a:defRPr>
            </a:pPr>
            <a:r>
              <a:t>ID: reporting_mcp_server</a:t>
            </a:r>
          </a:p>
          <a:p>
            <a:pPr>
              <a:spcAft>
                <a:spcPts val="600"/>
              </a:spcAft>
              <a:defRPr sz="950">
                <a:solidFill>
                  <a:srgbClr val="334155"/>
                </a:solidFill>
                <a:latin typeface="Segoe UI"/>
              </a:defRPr>
            </a:pPr>
            <a:r>
              <a:t>- generate_executive_report(period, filter): Compiles structured executive summaries.</a:t>
            </a:r>
          </a:p>
          <a:p>
            <a:pPr>
              <a:spcAft>
                <a:spcPts val="600"/>
              </a:spcAft>
              <a:defRPr sz="950">
                <a:solidFill>
                  <a:srgbClr val="334155"/>
                </a:solidFill>
                <a:latin typeface="Segoe UI"/>
              </a:defRPr>
            </a:pPr>
            <a:r>
              <a:t>- export_report_document(format, payload): Exports to PDF, DOCX, and XLSX.</a:t>
            </a:r>
          </a:p>
          <a:p>
            <a:pPr>
              <a:spcAft>
                <a:spcPts val="600"/>
              </a:spcAft>
              <a:defRPr sz="950">
                <a:solidFill>
                  <a:srgbClr val="334155"/>
                </a:solidFill>
                <a:latin typeface="Segoe UI"/>
              </a:defRPr>
            </a:pPr>
            <a:r>
              <a:t>- ReportLab Integration: Formatted PDF vector scorecards.</a:t>
            </a:r>
          </a:p>
          <a:p>
            <a:pPr>
              <a:spcAft>
                <a:spcPts val="600"/>
              </a:spcAft>
              <a:defRPr sz="950">
                <a:solidFill>
                  <a:srgbClr val="334155"/>
                </a:solidFill>
                <a:latin typeface="Segoe UI"/>
              </a:defRPr>
            </a:pPr>
            <a:r>
              <a:t>- Openpyxl / python-docx: Native spreadsheet workbooks and editable Word docs.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31520" y="6400800"/>
            <a:ext cx="10728655" cy="9144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6446520"/>
            <a:ext cx="64008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Segoe UI"/>
              </a:defRPr>
            </a:pPr>
            <a:r>
              <a:t>Natural Language Incident Analytics &amp; Reporting | Enterprise Solution Reference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0" y="6446520"/>
            <a:ext cx="3687775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900">
                <a:solidFill>
                  <a:srgbClr val="64748B"/>
                </a:solidFill>
                <a:latin typeface="Segoe UI"/>
              </a:defRPr>
            </a:pPr>
            <a:r>
              <a:t>Slide 9 of 12 | Confidential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10B981"/>
                </a:solidFill>
                <a:latin typeface="Segoe UI"/>
              </a:defRPr>
            </a:pPr>
            <a:r>
              <a:t>EXECUTIVE REPORTING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21792"/>
            <a:ext cx="1069848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Segoe UI"/>
              </a:defRPr>
            </a:pPr>
            <a:r>
              <a:t>Single-Click Multi-Format Deliverables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4300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>
                <a:solidFill>
                  <a:srgbClr val="64748B"/>
                </a:solidFill>
                <a:latin typeface="Segoe UI"/>
              </a:defRPr>
            </a:pPr>
            <a:r>
              <a:t>Empowering leadership with boardroom-ready operational summaries in PDF, Word, and Excel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508760"/>
            <a:ext cx="10728655" cy="13716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737360"/>
            <a:ext cx="3429000" cy="44805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31520" y="1737360"/>
            <a:ext cx="3429000" cy="54864"/>
          </a:xfrm>
          <a:prstGeom prst="round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920240"/>
            <a:ext cx="3063240" cy="4114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300" b="1">
                <a:solidFill>
                  <a:srgbClr val="EF4444"/>
                </a:solidFill>
                <a:latin typeface="Segoe UI"/>
              </a:defRPr>
            </a:pPr>
            <a:r>
              <a:t>PDF Executive Brief</a:t>
            </a:r>
          </a:p>
          <a:p>
            <a:pPr>
              <a:spcAft>
                <a:spcPts val="1200"/>
              </a:spcAft>
              <a:defRPr sz="1000">
                <a:solidFill>
                  <a:srgbClr val="64748B"/>
                </a:solidFill>
                <a:latin typeface="Segoe UI"/>
              </a:defRPr>
            </a:pPr>
            <a:r>
              <a:t>Boardroom Executive Summary</a:t>
            </a:r>
          </a:p>
          <a:p>
            <a:pPr>
              <a:spcAft>
                <a:spcPts val="600"/>
              </a:spcAft>
              <a:defRPr sz="1000">
                <a:solidFill>
                  <a:srgbClr val="334155"/>
                </a:solidFill>
                <a:latin typeface="Segoe UI"/>
              </a:defRPr>
            </a:pPr>
            <a:r>
              <a:t>- Branded ReportLab vector styling with corporate typography</a:t>
            </a:r>
          </a:p>
          <a:p>
            <a:pPr>
              <a:spcAft>
                <a:spcPts val="600"/>
              </a:spcAft>
              <a:defRPr sz="1000">
                <a:solidFill>
                  <a:srgbClr val="334155"/>
                </a:solidFill>
                <a:latin typeface="Segoe UI"/>
              </a:defRPr>
            </a:pPr>
            <a:r>
              <a:t>- High-level narrative and strategic executive takeaways</a:t>
            </a:r>
          </a:p>
          <a:p>
            <a:pPr>
              <a:spcAft>
                <a:spcPts val="600"/>
              </a:spcAft>
              <a:defRPr sz="1000">
                <a:solidFill>
                  <a:srgbClr val="334155"/>
                </a:solidFill>
                <a:latin typeface="Segoe UI"/>
              </a:defRPr>
            </a:pPr>
            <a:r>
              <a:t>- Formatted KPI scorecard matrix (MTTR, MTBF, SLA rate)</a:t>
            </a:r>
          </a:p>
          <a:p>
            <a:pPr>
              <a:spcAft>
                <a:spcPts val="600"/>
              </a:spcAft>
              <a:defRPr sz="1000">
                <a:solidFill>
                  <a:srgbClr val="334155"/>
                </a:solidFill>
                <a:latin typeface="Segoe UI"/>
              </a:defRPr>
            </a:pPr>
            <a:r>
              <a:t>- Actionable recommendations and preventative roadmap</a:t>
            </a:r>
          </a:p>
          <a:p>
            <a:pPr>
              <a:spcAft>
                <a:spcPts val="600"/>
              </a:spcAft>
              <a:defRPr sz="1000">
                <a:solidFill>
                  <a:srgbClr val="334155"/>
                </a:solidFill>
                <a:latin typeface="Segoe UI"/>
              </a:defRPr>
            </a:pPr>
            <a:r>
              <a:t>- Ideal for executive presentations and compliance sign-offs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79976" y="1737360"/>
            <a:ext cx="3429000" cy="44805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379976" y="1737360"/>
            <a:ext cx="3429000" cy="54864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62856" y="1920240"/>
            <a:ext cx="3063240" cy="4114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300" b="1">
                <a:solidFill>
                  <a:srgbClr val="2563EB"/>
                </a:solidFill>
                <a:latin typeface="Segoe UI"/>
              </a:defRPr>
            </a:pPr>
            <a:r>
              <a:t>Microsoft Word (.docx)</a:t>
            </a:r>
          </a:p>
          <a:p>
            <a:pPr>
              <a:spcAft>
                <a:spcPts val="1200"/>
              </a:spcAft>
              <a:defRPr sz="1000">
                <a:solidFill>
                  <a:srgbClr val="64748B"/>
                </a:solidFill>
                <a:latin typeface="Segoe UI"/>
              </a:defRPr>
            </a:pPr>
            <a:r>
              <a:t>Operational Review Document</a:t>
            </a:r>
          </a:p>
          <a:p>
            <a:pPr>
              <a:spcAft>
                <a:spcPts val="600"/>
              </a:spcAft>
              <a:defRPr sz="1000">
                <a:solidFill>
                  <a:srgbClr val="334155"/>
                </a:solidFill>
                <a:latin typeface="Segoe UI"/>
              </a:defRPr>
            </a:pPr>
            <a:r>
              <a:t>- Fully editable document built using python-docx</a:t>
            </a:r>
          </a:p>
          <a:p>
            <a:pPr>
              <a:spcAft>
                <a:spcPts val="600"/>
              </a:spcAft>
              <a:defRPr sz="1000">
                <a:solidFill>
                  <a:srgbClr val="334155"/>
                </a:solidFill>
                <a:latin typeface="Segoe UI"/>
              </a:defRPr>
            </a:pPr>
            <a:r>
              <a:t>- Standardized corporate headings, tables, and bullet points</a:t>
            </a:r>
          </a:p>
          <a:p>
            <a:pPr>
              <a:spcAft>
                <a:spcPts val="600"/>
              </a:spcAft>
              <a:defRPr sz="1000">
                <a:solidFill>
                  <a:srgbClr val="334155"/>
                </a:solidFill>
                <a:latin typeface="Segoe UI"/>
              </a:defRPr>
            </a:pPr>
            <a:r>
              <a:t>- Allows managers to add commentary before leadership meetings</a:t>
            </a:r>
          </a:p>
          <a:p>
            <a:pPr>
              <a:spcAft>
                <a:spcPts val="600"/>
              </a:spcAft>
              <a:defRPr sz="1000">
                <a:solidFill>
                  <a:srgbClr val="334155"/>
                </a:solidFill>
                <a:latin typeface="Segoe UI"/>
              </a:defRPr>
            </a:pPr>
            <a:r>
              <a:t>- Clean tabular formatting with colored header styling</a:t>
            </a:r>
          </a:p>
          <a:p>
            <a:pPr>
              <a:spcAft>
                <a:spcPts val="600"/>
              </a:spcAft>
              <a:defRPr sz="1000">
                <a:solidFill>
                  <a:srgbClr val="334155"/>
                </a:solidFill>
                <a:latin typeface="Segoe UI"/>
              </a:defRPr>
            </a:pPr>
            <a:r>
              <a:t>- Easily merged into enterprise monthly operational reviews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28432" y="1737360"/>
            <a:ext cx="3429000" cy="44805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8028432" y="1737360"/>
            <a:ext cx="3429000" cy="54864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11312" y="1920240"/>
            <a:ext cx="3063240" cy="4114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300" b="1">
                <a:solidFill>
                  <a:srgbClr val="10B981"/>
                </a:solidFill>
                <a:latin typeface="Segoe UI"/>
              </a:defRPr>
            </a:pPr>
            <a:r>
              <a:t>Microsoft Excel (.xlsx)</a:t>
            </a:r>
          </a:p>
          <a:p>
            <a:pPr>
              <a:spcAft>
                <a:spcPts val="1200"/>
              </a:spcAft>
              <a:defRPr sz="1000">
                <a:solidFill>
                  <a:srgbClr val="64748B"/>
                </a:solidFill>
                <a:latin typeface="Segoe UI"/>
              </a:defRPr>
            </a:pPr>
            <a:r>
              <a:t>Analytical Multi-Tab Workbook</a:t>
            </a:r>
          </a:p>
          <a:p>
            <a:pPr>
              <a:spcAft>
                <a:spcPts val="600"/>
              </a:spcAft>
              <a:defRPr sz="1000">
                <a:solidFill>
                  <a:srgbClr val="334155"/>
                </a:solidFill>
                <a:latin typeface="Segoe UI"/>
              </a:defRPr>
            </a:pPr>
            <a:r>
              <a:t>- Multi-tab spreadsheet generated with openpyxl</a:t>
            </a:r>
          </a:p>
          <a:p>
            <a:pPr>
              <a:spcAft>
                <a:spcPts val="600"/>
              </a:spcAft>
              <a:defRPr sz="1000">
                <a:solidFill>
                  <a:srgbClr val="334155"/>
                </a:solidFill>
                <a:latin typeface="Segoe UI"/>
              </a:defRPr>
            </a:pPr>
            <a:r>
              <a:t>- Tab 1: Operational KPIs and SLA compliance rates</a:t>
            </a:r>
          </a:p>
          <a:p>
            <a:pPr>
              <a:spcAft>
                <a:spcPts val="600"/>
              </a:spcAft>
              <a:defRPr sz="1000">
                <a:solidFill>
                  <a:srgbClr val="334155"/>
                </a:solidFill>
                <a:latin typeface="Segoe UI"/>
              </a:defRPr>
            </a:pPr>
            <a:r>
              <a:t>- Tab 2: Complete application incident breakdown matrix</a:t>
            </a:r>
          </a:p>
          <a:p>
            <a:pPr>
              <a:spcAft>
                <a:spcPts val="600"/>
              </a:spcAft>
              <a:defRPr sz="1000">
                <a:solidFill>
                  <a:srgbClr val="334155"/>
                </a:solidFill>
                <a:latin typeface="Segoe UI"/>
              </a:defRPr>
            </a:pPr>
            <a:r>
              <a:t>- Numeric formatting, bold headers, and column auto-sizing</a:t>
            </a:r>
          </a:p>
          <a:p>
            <a:pPr>
              <a:spcAft>
                <a:spcPts val="600"/>
              </a:spcAft>
              <a:defRPr sz="1000">
                <a:solidFill>
                  <a:srgbClr val="334155"/>
                </a:solidFill>
                <a:latin typeface="Segoe UI"/>
              </a:defRPr>
            </a:pPr>
            <a:r>
              <a:t>- Ready for further financial modeling and pivot analysis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31520" y="6400800"/>
            <a:ext cx="10728655" cy="9144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6446520"/>
            <a:ext cx="64008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Segoe UI"/>
              </a:defRPr>
            </a:pPr>
            <a:r>
              <a:t>Natural Language Incident Analytics &amp; Reporting | Enterprise Solution Reference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0" y="6446520"/>
            <a:ext cx="3687775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900">
                <a:solidFill>
                  <a:srgbClr val="64748B"/>
                </a:solidFill>
                <a:latin typeface="Segoe UI"/>
              </a:defRPr>
            </a:pPr>
            <a:r>
              <a:t>Slide 10 of 12 | Confidential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10B981"/>
                </a:solidFill>
                <a:latin typeface="Segoe UI"/>
              </a:defRPr>
            </a:pPr>
            <a:r>
              <a:t>SERVICENOW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21792"/>
            <a:ext cx="1069848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Segoe UI"/>
              </a:defRPr>
            </a:pPr>
            <a:r>
              <a:t>Live ServiceNow PDI Connection &amp; Direct URLs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4300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>
                <a:solidFill>
                  <a:srgbClr val="64748B"/>
                </a:solidFill>
                <a:latin typeface="Segoe UI"/>
              </a:defRPr>
            </a:pPr>
            <a:r>
              <a:t>Seamless integration with dev204434.service-now.com and live Table REST APIs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508760"/>
            <a:ext cx="10728655" cy="13716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737360"/>
            <a:ext cx="5248656" cy="2011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31520" y="1737360"/>
            <a:ext cx="5248656" cy="54864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920240"/>
            <a:ext cx="4791456" cy="1737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10B981"/>
                </a:solidFill>
                <a:latin typeface="Segoe UI"/>
              </a:defRPr>
            </a:pPr>
            <a:r>
              <a:t>AUTHENTICATED CONNECTION PROFILE</a:t>
            </a:r>
          </a:p>
          <a:p>
            <a:pPr>
              <a:spcAft>
                <a:spcPts val="200"/>
              </a:spcAft>
              <a:defRPr sz="950">
                <a:solidFill>
                  <a:srgbClr val="334155"/>
                </a:solidFill>
                <a:latin typeface="Segoe UI"/>
              </a:defRPr>
            </a:pPr>
            <a:r>
              <a:t>Instance URL: https://dev204434.service-now.com</a:t>
            </a:r>
          </a:p>
          <a:p>
            <a:pPr>
              <a:spcAft>
                <a:spcPts val="200"/>
              </a:spcAft>
              <a:defRPr sz="950">
                <a:solidFill>
                  <a:srgbClr val="334155"/>
                </a:solidFill>
                <a:latin typeface="Segoe UI"/>
              </a:defRPr>
            </a:pPr>
            <a:r>
              <a:t>Service Account: test (Web Service User with ITIL roles)</a:t>
            </a:r>
          </a:p>
          <a:p>
            <a:pPr>
              <a:spcAft>
                <a:spcPts val="200"/>
              </a:spcAft>
              <a:defRPr sz="950">
                <a:solidFill>
                  <a:srgbClr val="334155"/>
                </a:solidFill>
                <a:latin typeface="Segoe UI"/>
              </a:defRPr>
            </a:pPr>
            <a:r>
              <a:t>Auth Protocol: HTTP Basic Authentication with corporate SSL bypass</a:t>
            </a:r>
          </a:p>
          <a:p>
            <a:pPr>
              <a:spcAft>
                <a:spcPts val="200"/>
              </a:spcAft>
              <a:defRPr sz="950">
                <a:solidFill>
                  <a:srgbClr val="334155"/>
                </a:solidFill>
                <a:latin typeface="Segoe UI"/>
              </a:defRPr>
            </a:pPr>
            <a:r>
              <a:t>Connection Health: 200 OK Active (Verified with 67 live incidents)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08776" y="1737360"/>
            <a:ext cx="5248656" cy="2011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208776" y="1737360"/>
            <a:ext cx="5248656" cy="54864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37376" y="1920240"/>
            <a:ext cx="4791456" cy="1737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2563EB"/>
                </a:solidFill>
                <a:latin typeface="Segoe UI"/>
              </a:defRPr>
            </a:pPr>
            <a:r>
              <a:t>DUAL-MODE RESILIENCE ENGINE</a:t>
            </a:r>
          </a:p>
          <a:p>
            <a:pPr>
              <a:spcAft>
                <a:spcPts val="200"/>
              </a:spcAft>
              <a:defRPr sz="950">
                <a:solidFill>
                  <a:srgbClr val="334155"/>
                </a:solidFill>
                <a:latin typeface="Segoe UI"/>
              </a:defRPr>
            </a:pPr>
            <a:r>
              <a:t>Live PDI Execution: Direct queries executed against live ServiceNow Table APIs.</a:t>
            </a:r>
          </a:p>
          <a:p>
            <a:pPr>
              <a:spcAft>
                <a:spcPts val="200"/>
              </a:spcAft>
              <a:defRPr sz="950">
                <a:solidFill>
                  <a:srgbClr val="334155"/>
                </a:solidFill>
                <a:latin typeface="Segoe UI"/>
              </a:defRPr>
            </a:pPr>
            <a:r>
              <a:t>Simulation Fallback: High-fidelity 100+ record seed engine activates if PDI hibernates.</a:t>
            </a:r>
          </a:p>
          <a:p>
            <a:pPr>
              <a:spcAft>
                <a:spcPts val="200"/>
              </a:spcAft>
              <a:defRPr sz="950">
                <a:solidFill>
                  <a:srgbClr val="334155"/>
                </a:solidFill>
                <a:latin typeface="Segoe UI"/>
              </a:defRPr>
            </a:pPr>
            <a:r>
              <a:t>Zero Downtime: Guarantees 100% demo availability for stakeholders and leadership.</a:t>
            </a:r>
          </a:p>
          <a:p>
            <a:pPr>
              <a:spcAft>
                <a:spcPts val="200"/>
              </a:spcAft>
              <a:defRPr sz="950">
                <a:solidFill>
                  <a:srgbClr val="334155"/>
                </a:solidFill>
                <a:latin typeface="Segoe UI"/>
              </a:defRPr>
            </a:pPr>
            <a:r>
              <a:t>Auto-Reconnection: Resumes live queries immediately when PDI is awakened.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3977639"/>
            <a:ext cx="10725912" cy="22402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731520" y="3977639"/>
            <a:ext cx="10725912" cy="54864"/>
          </a:xfrm>
          <a:prstGeom prst="round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0120" y="4160519"/>
            <a:ext cx="10268712" cy="1965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100" b="1">
                <a:solidFill>
                  <a:srgbClr val="8B5CF6"/>
                </a:solidFill>
                <a:latin typeface="Segoe UI"/>
              </a:defRPr>
            </a:pPr>
            <a:r>
              <a:t>SERVICENOW ENDPOINT &amp; NAVIGATOR DEEP-LINK CATALOG</a:t>
            </a:r>
          </a:p>
          <a:p>
            <a:pPr>
              <a:spcAft>
                <a:spcPts val="300"/>
              </a:spcAft>
              <a:defRPr sz="950">
                <a:solidFill>
                  <a:srgbClr val="334155"/>
                </a:solidFill>
                <a:latin typeface="Segoe UI"/>
              </a:defRPr>
            </a:pPr>
            <a:r>
              <a:t>- Incident REST API: https://dev204434.service-now.com/api/now/table/incident</a:t>
            </a:r>
          </a:p>
          <a:p>
            <a:pPr>
              <a:spcAft>
                <a:spcPts val="300"/>
              </a:spcAft>
              <a:defRPr sz="950">
                <a:solidFill>
                  <a:srgbClr val="334155"/>
                </a:solidFill>
                <a:latin typeface="Segoe UI"/>
              </a:defRPr>
            </a:pPr>
            <a:r>
              <a:t>- Incident Classic UI Navigator: https://dev204434.service-now.com/now/nav/ui/classic/params/target/incident_list.do</a:t>
            </a:r>
          </a:p>
          <a:p>
            <a:pPr>
              <a:spcAft>
                <a:spcPts val="300"/>
              </a:spcAft>
              <a:defRPr sz="950">
                <a:solidFill>
                  <a:srgbClr val="334155"/>
                </a:solidFill>
                <a:latin typeface="Segoe UI"/>
              </a:defRPr>
            </a:pPr>
            <a:r>
              <a:t>- Problem REST API &amp; Navigator: https://dev204434.service-now.com/api/now/table/problem</a:t>
            </a:r>
          </a:p>
          <a:p>
            <a:pPr>
              <a:spcAft>
                <a:spcPts val="300"/>
              </a:spcAft>
              <a:defRPr sz="950">
                <a:solidFill>
                  <a:srgbClr val="334155"/>
                </a:solidFill>
                <a:latin typeface="Segoe UI"/>
              </a:defRPr>
            </a:pPr>
            <a:r>
              <a:t>- Change Request REST API: https://dev204434.service-now.com/api/now/table/change_request</a:t>
            </a:r>
          </a:p>
          <a:p>
            <a:pPr>
              <a:spcAft>
                <a:spcPts val="300"/>
              </a:spcAft>
              <a:defRPr sz="950">
                <a:solidFill>
                  <a:srgbClr val="334155"/>
                </a:solidFill>
                <a:latin typeface="Segoe UI"/>
              </a:defRPr>
            </a:pPr>
            <a:r>
              <a:t>- CMDB Configuration Items: https://dev204434.service-now.com/api/now/table/cmdb_ci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31520" y="6400800"/>
            <a:ext cx="10728655" cy="9144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6446520"/>
            <a:ext cx="64008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Segoe UI"/>
              </a:defRPr>
            </a:pPr>
            <a:r>
              <a:t>Natural Language Incident Analytics &amp; Reporting | Enterprise Solution Reference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0" y="6446520"/>
            <a:ext cx="3687775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900">
                <a:solidFill>
                  <a:srgbClr val="64748B"/>
                </a:solidFill>
                <a:latin typeface="Segoe UI"/>
              </a:defRPr>
            </a:pPr>
            <a:r>
              <a:t>Slide 11 of 12 | Confidential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10B981"/>
                </a:solidFill>
                <a:latin typeface="Segoe UI"/>
              </a:defRPr>
            </a:pPr>
            <a:r>
              <a:t>PRODUCTION READINESS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21792"/>
            <a:ext cx="1069848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Segoe UI"/>
              </a:defRPr>
            </a:pPr>
            <a:r>
              <a:t>Deployment Options, Security &amp; Proven ROI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4300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>
                <a:solidFill>
                  <a:srgbClr val="64748B"/>
                </a:solidFill>
                <a:latin typeface="Segoe UI"/>
              </a:defRPr>
            </a:pPr>
            <a:r>
              <a:t>Enterprise governance, containerized scalability, and measurable operational value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508760"/>
            <a:ext cx="10728655" cy="13716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737360"/>
            <a:ext cx="5248656" cy="2121408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31520" y="1737360"/>
            <a:ext cx="5248656" cy="54864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32688" y="1901952"/>
            <a:ext cx="4846320" cy="179222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200" b="1">
                <a:solidFill>
                  <a:srgbClr val="2563EB"/>
                </a:solidFill>
                <a:latin typeface="Segoe UI"/>
              </a:defRPr>
            </a:pPr>
            <a:r>
              <a:t>Deployment Options</a:t>
            </a:r>
          </a:p>
          <a:p>
            <a:pPr>
              <a:spcAft>
                <a:spcPts val="600"/>
              </a:spcAft>
              <a:defRPr sz="900">
                <a:solidFill>
                  <a:srgbClr val="64748B"/>
                </a:solidFill>
                <a:latin typeface="Segoe UI"/>
              </a:defRPr>
            </a:pPr>
            <a:r>
              <a:t>Flexible Hosting Environments</a:t>
            </a:r>
          </a:p>
          <a:p>
            <a:pPr>
              <a:spcAft>
                <a:spcPts val="300"/>
              </a:spcAft>
              <a:defRPr sz="950">
                <a:solidFill>
                  <a:srgbClr val="334155"/>
                </a:solidFill>
                <a:latin typeface="Segoe UI"/>
              </a:defRPr>
            </a:pPr>
            <a:r>
              <a:t>- Local Runbook: FastAPI (:8000) + Vite React (:5173)</a:t>
            </a:r>
          </a:p>
          <a:p>
            <a:pPr>
              <a:spcAft>
                <a:spcPts val="300"/>
              </a:spcAft>
              <a:defRPr sz="950">
                <a:solidFill>
                  <a:srgbClr val="334155"/>
                </a:solidFill>
                <a:latin typeface="Segoe UI"/>
              </a:defRPr>
            </a:pPr>
            <a:r>
              <a:t>- Docker Compose: Multi-container stack with Nginx reverse proxy</a:t>
            </a:r>
          </a:p>
          <a:p>
            <a:pPr>
              <a:spcAft>
                <a:spcPts val="300"/>
              </a:spcAft>
              <a:defRPr sz="950">
                <a:solidFill>
                  <a:srgbClr val="334155"/>
                </a:solidFill>
                <a:latin typeface="Segoe UI"/>
              </a:defRPr>
            </a:pPr>
            <a:r>
              <a:t>- PostgreSQL 16 audit storage + Redis session cache</a:t>
            </a:r>
          </a:p>
          <a:p>
            <a:pPr>
              <a:spcAft>
                <a:spcPts val="300"/>
              </a:spcAft>
              <a:defRPr sz="950">
                <a:solidFill>
                  <a:srgbClr val="334155"/>
                </a:solidFill>
                <a:latin typeface="Segoe UI"/>
              </a:defRPr>
            </a:pPr>
            <a:r>
              <a:t>- Kubernetes / Helm ready with zero state dependencies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08776" y="1737360"/>
            <a:ext cx="5248656" cy="2121408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208776" y="1737360"/>
            <a:ext cx="5248656" cy="54864"/>
          </a:xfrm>
          <a:prstGeom prst="round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9944" y="1901952"/>
            <a:ext cx="4846320" cy="179222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200" b="1">
                <a:solidFill>
                  <a:srgbClr val="EF4444"/>
                </a:solidFill>
                <a:latin typeface="Segoe UI"/>
              </a:defRPr>
            </a:pPr>
            <a:r>
              <a:t>Security &amp; Governance</a:t>
            </a:r>
          </a:p>
          <a:p>
            <a:pPr>
              <a:spcAft>
                <a:spcPts val="600"/>
              </a:spcAft>
              <a:defRPr sz="900">
                <a:solidFill>
                  <a:srgbClr val="64748B"/>
                </a:solidFill>
                <a:latin typeface="Segoe UI"/>
              </a:defRPr>
            </a:pPr>
            <a:r>
              <a:t>Anti-Injection Guardrails</a:t>
            </a:r>
          </a:p>
          <a:p>
            <a:pPr>
              <a:spcAft>
                <a:spcPts val="300"/>
              </a:spcAft>
              <a:defRPr sz="950">
                <a:solidFill>
                  <a:srgbClr val="334155"/>
                </a:solidFill>
                <a:latin typeface="Segoe UI"/>
              </a:defRPr>
            </a:pPr>
            <a:r>
              <a:t>- Pre-execution regex filter blocks SQLi, XSS, and script injection</a:t>
            </a:r>
          </a:p>
          <a:p>
            <a:pPr>
              <a:spcAft>
                <a:spcPts val="300"/>
              </a:spcAft>
              <a:defRPr sz="950">
                <a:solidFill>
                  <a:srgbClr val="334155"/>
                </a:solidFill>
                <a:latin typeface="Segoe UI"/>
              </a:defRPr>
            </a:pPr>
            <a:r>
              <a:t>- Permits safe ServiceNow GlideSystem date macros</a:t>
            </a:r>
          </a:p>
          <a:p>
            <a:pPr>
              <a:spcAft>
                <a:spcPts val="300"/>
              </a:spcAft>
              <a:defRPr sz="950">
                <a:solidFill>
                  <a:srgbClr val="334155"/>
                </a:solidFill>
                <a:latin typeface="Segoe UI"/>
              </a:defRPr>
            </a:pPr>
            <a:r>
              <a:t>- Credential masking across UI, logs, and API payloads</a:t>
            </a:r>
          </a:p>
          <a:p>
            <a:pPr>
              <a:spcAft>
                <a:spcPts val="300"/>
              </a:spcAft>
              <a:defRPr sz="950">
                <a:solidFill>
                  <a:srgbClr val="334155"/>
                </a:solidFill>
                <a:latin typeface="Segoe UI"/>
              </a:defRPr>
            </a:pPr>
            <a:r>
              <a:t>- Complete audit trail of all natural language prompts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4078224"/>
            <a:ext cx="5248656" cy="2121408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731520" y="4078224"/>
            <a:ext cx="5248656" cy="54864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32688" y="4242816"/>
            <a:ext cx="4846320" cy="179222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200" b="1">
                <a:solidFill>
                  <a:srgbClr val="10B981"/>
                </a:solidFill>
                <a:latin typeface="Segoe UI"/>
              </a:defRPr>
            </a:pPr>
            <a:r>
              <a:t>Proven Business ROI</a:t>
            </a:r>
          </a:p>
          <a:p>
            <a:pPr>
              <a:spcAft>
                <a:spcPts val="600"/>
              </a:spcAft>
              <a:defRPr sz="900">
                <a:solidFill>
                  <a:srgbClr val="64748B"/>
                </a:solidFill>
                <a:latin typeface="Segoe UI"/>
              </a:defRPr>
            </a:pPr>
            <a:r>
              <a:t>Measurable Operational Value</a:t>
            </a:r>
          </a:p>
          <a:p>
            <a:pPr>
              <a:spcAft>
                <a:spcPts val="300"/>
              </a:spcAft>
              <a:defRPr sz="950">
                <a:solidFill>
                  <a:srgbClr val="334155"/>
                </a:solidFill>
                <a:latin typeface="Segoe UI"/>
              </a:defRPr>
            </a:pPr>
            <a:r>
              <a:t>- 90% reduction in time required for ad-hoc incident reporting</a:t>
            </a:r>
          </a:p>
          <a:p>
            <a:pPr>
              <a:spcAft>
                <a:spcPts val="300"/>
              </a:spcAft>
              <a:defRPr sz="950">
                <a:solidFill>
                  <a:srgbClr val="334155"/>
                </a:solidFill>
                <a:latin typeface="Segoe UI"/>
              </a:defRPr>
            </a:pPr>
            <a:r>
              <a:t>- 45% faster identification of recurring root causes</a:t>
            </a:r>
          </a:p>
          <a:p>
            <a:pPr>
              <a:spcAft>
                <a:spcPts val="300"/>
              </a:spcAft>
              <a:defRPr sz="950">
                <a:solidFill>
                  <a:srgbClr val="334155"/>
                </a:solidFill>
                <a:latin typeface="Segoe UI"/>
              </a:defRPr>
            </a:pPr>
            <a:r>
              <a:t>- Empowers non-technical managers with zero ITIL backlog</a:t>
            </a:r>
          </a:p>
          <a:p>
            <a:pPr>
              <a:spcAft>
                <a:spcPts val="300"/>
              </a:spcAft>
              <a:defRPr sz="950">
                <a:solidFill>
                  <a:srgbClr val="334155"/>
                </a:solidFill>
                <a:latin typeface="Segoe UI"/>
              </a:defRPr>
            </a:pPr>
            <a:r>
              <a:t>- Boardroom-ready executive PDF/Word reports in 5 seconds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08776" y="4078224"/>
            <a:ext cx="5248656" cy="2121408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208776" y="4078224"/>
            <a:ext cx="5248656" cy="54864"/>
          </a:xfrm>
          <a:prstGeom prst="round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9944" y="4242816"/>
            <a:ext cx="4846320" cy="179222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200" b="1">
                <a:solidFill>
                  <a:srgbClr val="8B5CF6"/>
                </a:solidFill>
                <a:latin typeface="Segoe UI"/>
              </a:defRPr>
            </a:pPr>
            <a:r>
              <a:t>Enterprise Capabilities</a:t>
            </a:r>
          </a:p>
          <a:p>
            <a:pPr>
              <a:spcAft>
                <a:spcPts val="600"/>
              </a:spcAft>
              <a:defRPr sz="900">
                <a:solidFill>
                  <a:srgbClr val="64748B"/>
                </a:solidFill>
                <a:latin typeface="Segoe UI"/>
              </a:defRPr>
            </a:pPr>
            <a:r>
              <a:t>Delivered Strategic Features</a:t>
            </a:r>
          </a:p>
          <a:p>
            <a:pPr>
              <a:spcAft>
                <a:spcPts val="300"/>
              </a:spcAft>
              <a:defRPr sz="950">
                <a:solidFill>
                  <a:srgbClr val="334155"/>
                </a:solidFill>
                <a:latin typeface="Segoe UI"/>
              </a:defRPr>
            </a:pPr>
            <a:r>
              <a:t>- LIVE: Natural Language Incident Creation &amp; Automated Ticketing in ServiceNow</a:t>
            </a:r>
          </a:p>
          <a:p>
            <a:pPr>
              <a:spcAft>
                <a:spcPts val="300"/>
              </a:spcAft>
              <a:defRPr sz="950">
                <a:solidFill>
                  <a:srgbClr val="334155"/>
                </a:solidFill>
                <a:latin typeface="Segoe UI"/>
              </a:defRPr>
            </a:pPr>
            <a:r>
              <a:t>- LIVE: NVIDIA NIM API Integration (meta/llama-3.3-70b-instruct)</a:t>
            </a:r>
          </a:p>
          <a:p>
            <a:pPr>
              <a:spcAft>
                <a:spcPts val="300"/>
              </a:spcAft>
              <a:defRPr sz="950">
                <a:solidFill>
                  <a:srgbClr val="334155"/>
                </a:solidFill>
                <a:latin typeface="Segoe UI"/>
              </a:defRPr>
            </a:pPr>
            <a:r>
              <a:t>- LIVE: Dynamic Timeframe Analytics across Dashboard &amp; Executive Reports</a:t>
            </a:r>
          </a:p>
          <a:p>
            <a:pPr>
              <a:spcAft>
                <a:spcPts val="300"/>
              </a:spcAft>
              <a:defRPr sz="950">
                <a:solidFill>
                  <a:srgbClr val="334155"/>
                </a:solidFill>
                <a:latin typeface="Segoe UI"/>
              </a:defRPr>
            </a:pPr>
            <a:r>
              <a:t>- LIVE: Multi-Format Boardroom Exports (PDF Vector, Word DOCX, Excel XLSX)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31520" y="6400800"/>
            <a:ext cx="10728655" cy="9144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1520" y="6446520"/>
            <a:ext cx="64008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Segoe UI"/>
              </a:defRPr>
            </a:pPr>
            <a:r>
              <a:t>Natural Language Incident Analytics &amp; Reporting | Enterprise Solution Reference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0" y="6446520"/>
            <a:ext cx="3687775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900">
                <a:solidFill>
                  <a:srgbClr val="64748B"/>
                </a:solidFill>
                <a:latin typeface="Segoe UI"/>
              </a:defRPr>
            </a:pPr>
            <a:r>
              <a:t>Slide 12 of 12 | Confidential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